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703e744dc840a6" /><Relationship Type="http://schemas.openxmlformats.org/officeDocument/2006/relationships/extended-properties" Target="/docProps/app.xml" Id="Ra9295155f25942de" /><Relationship Type="http://schemas.openxmlformats.org/officeDocument/2006/relationships/officeDocument" Target="/ppt/presentation.xml" Id="Rf7bfbd8b80bf4d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b58a878b9f497c"/>
  </p:sldMasterIdLst>
  <p:notesMasterIdLst>
    <p:notesMasterId xmlns:r="http://schemas.openxmlformats.org/officeDocument/2006/relationships" r:id="Rf885bdc4782a40d0"/>
  </p:notesMasterIdLst>
  <p:sldIdLst>
    <p:sldId xmlns:r="http://schemas.openxmlformats.org/officeDocument/2006/relationships" id="256" r:id="Rf7ffc5fbfb0d4f1e"/>
    <p:sldId xmlns:r="http://schemas.openxmlformats.org/officeDocument/2006/relationships" id="257" r:id="R0cde5f4cc3154af2"/>
    <p:sldId xmlns:r="http://schemas.openxmlformats.org/officeDocument/2006/relationships" id="258" r:id="Rd6678d58319f42bc"/>
    <p:sldId xmlns:r="http://schemas.openxmlformats.org/officeDocument/2006/relationships" id="259" r:id="R4393afdfb932489c"/>
    <p:sldId xmlns:r="http://schemas.openxmlformats.org/officeDocument/2006/relationships" id="260" r:id="Rb86a5175749e4071"/>
    <p:sldId xmlns:r="http://schemas.openxmlformats.org/officeDocument/2006/relationships" id="261" r:id="R95af4054d9774640"/>
    <p:sldId xmlns:r="http://schemas.openxmlformats.org/officeDocument/2006/relationships" id="262" r:id="Rbcaebb5f0ba04d26"/>
    <p:sldId xmlns:r="http://schemas.openxmlformats.org/officeDocument/2006/relationships" id="263" r:id="Rdacb376f26434eee"/>
    <p:sldId xmlns:r="http://schemas.openxmlformats.org/officeDocument/2006/relationships" id="264" r:id="R2bd43277b0894f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eb7f9fd7f74fe6" /><Relationship Type="http://schemas.openxmlformats.org/officeDocument/2006/relationships/slideMaster" Target="/ppt/slideMasters/slideMaster1.xml" Id="R30b58a878b9f497c" /><Relationship Type="http://schemas.openxmlformats.org/officeDocument/2006/relationships/notesMaster" Target="/ppt/notesMasters/notesMaster1.xml" Id="Rf885bdc4782a40d0" /><Relationship Type="http://schemas.openxmlformats.org/officeDocument/2006/relationships/presProps" Target="/ppt/presProps.xml" Id="R6ef610c712db42b6" /><Relationship Type="http://schemas.openxmlformats.org/officeDocument/2006/relationships/tableStyles" Target="/ppt/tableStyles.xml" Id="Rb9cb7ffadb8f43cd" /><Relationship Type="http://schemas.openxmlformats.org/officeDocument/2006/relationships/slide" Target="/ppt/slides/slide1.xml" Id="Rf7ffc5fbfb0d4f1e" /><Relationship Type="http://schemas.openxmlformats.org/officeDocument/2006/relationships/slide" Target="/ppt/slides/slide2.xml" Id="R0cde5f4cc3154af2" /><Relationship Type="http://schemas.openxmlformats.org/officeDocument/2006/relationships/slide" Target="/ppt/slides/slide3.xml" Id="Rd6678d58319f42bc" /><Relationship Type="http://schemas.openxmlformats.org/officeDocument/2006/relationships/slide" Target="/ppt/slides/slide4.xml" Id="R4393afdfb932489c" /><Relationship Type="http://schemas.openxmlformats.org/officeDocument/2006/relationships/slide" Target="/ppt/slides/slide5.xml" Id="Rb86a5175749e4071" /><Relationship Type="http://schemas.openxmlformats.org/officeDocument/2006/relationships/slide" Target="/ppt/slides/slide6.xml" Id="R95af4054d9774640" /><Relationship Type="http://schemas.openxmlformats.org/officeDocument/2006/relationships/slide" Target="/ppt/slides/slide7.xml" Id="Rbcaebb5f0ba04d26" /><Relationship Type="http://schemas.openxmlformats.org/officeDocument/2006/relationships/slide" Target="/ppt/slides/slide8.xml" Id="Rdacb376f26434eee" /><Relationship Type="http://schemas.openxmlformats.org/officeDocument/2006/relationships/slide" Target="/ppt/slides/slide9.xml" Id="R2bd43277b0894f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734c482fed49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d8179cf183447a" /><Relationship Type="http://schemas.openxmlformats.org/officeDocument/2006/relationships/notesMaster" Target="/ppt/notesMasters/notesMaster1.xml" Id="R89d56ac8272c45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4672228f324cae" /><Relationship Type="http://schemas.openxmlformats.org/officeDocument/2006/relationships/notesMaster" Target="/ppt/notesMasters/notesMaster1.xml" Id="R0c4bd61c2feb43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32739151794920" /><Relationship Type="http://schemas.openxmlformats.org/officeDocument/2006/relationships/notesMaster" Target="/ppt/notesMasters/notesMaster1.xml" Id="R6c5f9d24e9e94a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c3fe9cb611461d" /><Relationship Type="http://schemas.openxmlformats.org/officeDocument/2006/relationships/notesMaster" Target="/ppt/notesMasters/notesMaster1.xml" Id="R1565301c436b45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84bed815f5420d" /><Relationship Type="http://schemas.openxmlformats.org/officeDocument/2006/relationships/notesMaster" Target="/ppt/notesMasters/notesMaster1.xml" Id="Rbf83a581a7b448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c2f57e6d4e442c" /><Relationship Type="http://schemas.openxmlformats.org/officeDocument/2006/relationships/notesMaster" Target="/ppt/notesMasters/notesMaster1.xml" Id="Rc081856f610f41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88e9ee0f44421c" /><Relationship Type="http://schemas.openxmlformats.org/officeDocument/2006/relationships/notesMaster" Target="/ppt/notesMasters/notesMaster1.xml" Id="R8a8d61ffa28e43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f83550c8ed4b1b" /><Relationship Type="http://schemas.openxmlformats.org/officeDocument/2006/relationships/notesMaster" Target="/ppt/notesMasters/notesMaster1.xml" Id="R30b243a6fa0744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e9ec13b85b4bff" /><Relationship Type="http://schemas.openxmlformats.org/officeDocument/2006/relationships/notesMaster" Target="/ppt/notesMasters/notesMaster1.xml" Id="Rc2ef601df8d448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up the question: can a compact neural operator regenerate the near-binary 21cmFAST neutral-fraction lightcone accurately enough for inference, including its morphology?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/Users/kaharis/Documents/Vaults/CompAstro/wiki/thesis/Talks/euCAIF Talk FNOs.md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theory short. The observable depends on neutral fraction, matter density, spin temperature, and velocities. In the heated EoR limit, x_HI is the dominant on/off morphology. Point to the image: the target is nearly binary and its sharp walls are physically meaningful.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/Users/kaharis/Documents/Vaults/CompAstro/wiki/concepts/Brightness Temperature.md</a:t>
            </a:r>
          </a:p>
          <a:p xmlns:a="http://schemas.openxmlformats.org/drawingml/2006/main">
            <a:r>
              <a:t>- /Users/kaharis/Documents/Vaults/CompAstro/wiki/concepts/Neutral Fraction.md</a:t>
            </a:r>
          </a:p>
          <a:p xmlns:a="http://schemas.openxmlformats.org/drawingml/2006/main">
            <a:r>
              <a:t>- /Users/kaharis/Documents/Vaults/CompAstro/wiki/thesis/findings/figures/ufno-detailed_20260606-234954_job3966888/comparison_3d_test_cone3553.png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learning problem before the architectures. Each sample is a full lightcone. Conditioning on all eleven astrophysical/cosmological parameters was essential; it changed the problem from an ambiguous density-only map into a learnable conditional operator.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/Users/kaharis/Documents/Vaults/CompAstro/wiki/thesis/findings/FNO Lightcone Experimental Findings.md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Describe neural operators as learnable integral/convolutional maps. The first move was FNO. Wavelets and Walsh–Hadamard then changed the representation. The surprising empirical lesson was architectural: the global bottleneck benefited most from the non-Fourier transform.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/Users/kaharis/Documents/Vaults/CompAstro/wiki/concepts/Fourier Neural Operator.md</a:t>
            </a:r>
          </a:p>
          <a:p xmlns:a="http://schemas.openxmlformats.org/drawingml/2006/main">
            <a:r>
              <a:t>- /Users/kaharis/Documents/Vaults/CompAstro/wiki/papers/Pérez Cuadrado et al 2025 (WHNO).md</a:t>
            </a:r>
          </a:p>
          <a:p xmlns:a="http://schemas.openxmlformats.org/drawingml/2006/main">
            <a:r>
              <a:t>- /Users/kaharis/Documents/Vaults/CompAstro/wiki/thesis/findings/Structured-Transform Operator Findings.md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the synthesis. U-FNO supplied the local convolutional path; the Local-FNO introduced explicit windowed/local and whole-field/global slots; SirenFNO replaced per-mode tables with an implicit full-frequency kernel. Keeping the slots swappable made the experiments controlled rather than anecdotal.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/Users/kaharis/Documents/Vaults/CompAstro/wiki/papers/Shi et al 2025 (SirenFNO).md</a:t>
            </a:r>
          </a:p>
          <a:p xmlns:a="http://schemas.openxmlformats.org/drawingml/2006/main">
            <a:r>
              <a:t>- /Users/kaharis/Documents/Vaults/CompAstro/wiki/thesis/findings/FNO Lightcone Experimental Findings.md</a:t>
            </a:r>
          </a:p>
          <a:p xmlns:a="http://schemas.openxmlformats.org/drawingml/2006/main">
            <a:r>
              <a:t>- /Users/kaharis/Documents/Vaults/CompAstro/wiki/thesis/planning/Windowed Local-FNO U-Net Plan.md</a:t>
            </a:r>
          </a:p>
          <a:p xmlns:a="http://schemas.openxmlformats.org/drawingml/2006/main">
            <a:r>
              <a:t>- /Users/kaharis/Documents/Vaults/CompAstro/wiki/thesis/findings/z_re Map Training Results.md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the plain held-out RMSE ranking at the common twenty-epoch score cap. U-FNO still leads. The important result is how close the implicit-kernel models come: Local SirenFNO is within 4.5 percent of the plain U-FNO score, while the global-only SirenFNO also closes much of the pure-operator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/Users/kaharis/Documents/Vaults/CompAstro/wiki/thesis/findings/Loss Objective and Operator Basis Sweep.md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the central tradeoff. L2 prefers a conditional mean when the wall position is uncertain, so it hedges with a ramp. Exponential wall-weighted absolute error instead selects a side. It recovers truth-like width and much more high-k power, but the field RMSE rises by about twenty-two percent.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/Users/kaharis/Documents/Vaults/CompAstro/wiki/thesis/findings/Edge and Wall-Placement Losses.md</a:t>
            </a:r>
          </a:p>
          <a:p xmlns:a="http://schemas.openxmlformats.org/drawingml/2006/main">
            <a:r>
              <a:t>- /Users/kaharis/Documents/Vaults/CompAstro/wiki/thesis/findings/figures/xhi2d-wall-losses_20260728/whno_glob_baseline_representative_z_slices.png</a:t>
            </a:r>
          </a:p>
          <a:p xmlns:a="http://schemas.openxmlformats.org/drawingml/2006/main">
            <a:r>
              <a:t>- /Users/kaharis/Documents/Vaults/CompAstro/wiki/thesis/findings/figures/xhi2d-wall-losses_20260728/expwall16_representative_z_slices.png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RMSE does not ask whether the bubble population is physically right. The U-FNO recovers the distribution shape well, with small JS divergence, but the characteristic size is biased by several percent and peaks near nine percent in one stage bin. That is a physically meaningful error for power spectra and EFT-scale interpretation.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/Users/kaharis/Documents/Vaults/CompAstro/wiki/concepts/Bubble Size Distribution.md</a:t>
            </a:r>
          </a:p>
          <a:p xmlns:a="http://schemas.openxmlformats.org/drawingml/2006/main">
            <a:r>
              <a:t>- /Users/kaharis/Documents/Vaults/CompAstro/wiki/thesis/findings/figures/bubble-size_20260722/bubble_size_metrics.csv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by resolving the opening. The architecture is now competitive and compact; the unresolved decision is what fidelity the inference pipeline actually needs. The next experiments connect the sharpness lever, the LOS sampling limit, and the physical summary statistics in one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/Users/kaharis/Documents/Vaults/CompAstro/wiki/hot.md</a:t>
            </a:r>
          </a:p>
          <a:p xmlns:a="http://schemas.openxmlformats.org/drawingml/2006/main">
            <a:r>
              <a:t>- /Users/kaharis/Documents/Vaults/CompAstro/wiki/thesis/findings/Edge and Wall-Placement Losses.md</a:t>
            </a:r>
          </a:p>
          <a:p xmlns:a="http://schemas.openxmlformats.org/drawingml/2006/main">
            <a:r>
              <a:t>- /Users/kaharis/Documents/Vaults/CompAstro/wiki/thesis/findings/Warped LOS Grid Evaluation.md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39506df4546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e66d59cea743af" /><Relationship Type="http://schemas.openxmlformats.org/officeDocument/2006/relationships/slideLayout" Target="/ppt/slideLayouts/slideLayout1.xml" Id="R955d98c700754e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5d98c700754e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563585a2648b1" /><Relationship Type="http://schemas.openxmlformats.org/officeDocument/2006/relationships/notesSlide" Target="/ppt/notesSlides/notesSlide1.xml" Id="R2b1f2c06a0654d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0258166ad453e" /><Relationship Type="http://schemas.openxmlformats.org/officeDocument/2006/relationships/image" Target="/ppt/media/image.png" Id="Raa307562152b4e59" /><Relationship Type="http://schemas.openxmlformats.org/officeDocument/2006/relationships/notesSlide" Target="/ppt/notesSlides/notesSlide2.xml" Id="R134cc64b054049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968c47d4f4b4c" /><Relationship Type="http://schemas.openxmlformats.org/officeDocument/2006/relationships/notesSlide" Target="/ppt/notesSlides/notesSlide3.xml" Id="R3ffa85c77e714d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7980e3a5a4246" /><Relationship Type="http://schemas.openxmlformats.org/officeDocument/2006/relationships/notesSlide" Target="/ppt/notesSlides/notesSlide4.xml" Id="R15a6074119e645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d7a538fc54499" /><Relationship Type="http://schemas.openxmlformats.org/officeDocument/2006/relationships/notesSlide" Target="/ppt/notesSlides/notesSlide5.xml" Id="R3a184b0a202942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7d446e1724d58" /><Relationship Type="http://schemas.openxmlformats.org/officeDocument/2006/relationships/chart" Target="/ppt/slides/charts/chart1.xml" Id="Rd4810687127c48a9" /><Relationship Type="http://schemas.openxmlformats.org/officeDocument/2006/relationships/notesSlide" Target="/ppt/notesSlides/notesSlide6.xml" Id="R233b1d61c5314e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f957927e744e8" /><Relationship Type="http://schemas.openxmlformats.org/officeDocument/2006/relationships/image" Target="/ppt/media/image2.png" Id="R92d1b71fd25c4088" /><Relationship Type="http://schemas.openxmlformats.org/officeDocument/2006/relationships/image" Target="/ppt/media/image3.png" Id="Re0b2b466d1db4837" /><Relationship Type="http://schemas.openxmlformats.org/officeDocument/2006/relationships/notesSlide" Target="/ppt/notesSlides/notesSlide7.xml" Id="Rcceedca8df804e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a05011c174252" /><Relationship Type="http://schemas.openxmlformats.org/officeDocument/2006/relationships/chart" Target="/ppt/slides/charts/chart2.xml" Id="Rbd1ee36c7c0a404d" /><Relationship Type="http://schemas.openxmlformats.org/officeDocument/2006/relationships/notesSlide" Target="/ppt/notesSlides/notesSlide8.xml" Id="R065afc50abfd48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5ba348c744431" /><Relationship Type="http://schemas.openxmlformats.org/officeDocument/2006/relationships/notesSlide" Target="/ppt/notesSlides/notesSlide9.xml" Id="Re93d8222813d4ff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Held-out RMSE</c:v>
          </c:tx>
          <c:spPr>
            <a:solidFill xmlns:a="http://schemas.openxmlformats.org/drawingml/2006/main">
              <a:srgbClr val="6DCBF4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B0D1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AA1A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CDD1D6"/>
              </a:solidFill>
            </c:spPr>
          </c:dPt>
          <c:cat>
            <c:strLit>
              <c:ptCount val="5"/>
              <c:pt idx="0">
                <c:v>U-FNO (plain)</c:v>
              </c:pt>
              <c:pt idx="1">
                <c:v>Local SirenFNO</c:v>
              </c:pt>
              <c:pt idx="2">
                <c:v>Local FNO</c:v>
              </c:pt>
              <c:pt idx="3">
                <c:v>SirenFNO (global)</c:v>
              </c:pt>
              <c:pt idx="4">
                <c:v>FNO + WHNO</c:v>
              </c:pt>
            </c:strLit>
          </c:cat>
          <c:val>
            <c:numLit>
              <c:formatCode>0.0000</c:formatCode>
              <c:ptCount val="5"/>
              <c:pt idx="0">
                <c:v>0.0467</c:v>
              </c:pt>
              <c:pt idx="1">
                <c:v>0.0488</c:v>
              </c:pt>
              <c:pt idx="2">
                <c:v>0.0513</c:v>
              </c:pt>
              <c:pt idx="3">
                <c:v>0.0548</c:v>
              </c:pt>
              <c:pt idx="4">
                <c:v>0.0605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B0D1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D6470"/>
                    </a:solidFill>
                  </a:rPr>
                  <a:t>Held-out RMSE in x_HI  (lower is better)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D6470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4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D12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bubble-size bias</c:v>
          </c:tx>
          <c:spPr>
            <a:solidFill xmlns:a="http://schemas.openxmlformats.org/drawingml/2006/main">
              <a:srgbClr val="3D8DFF"/>
            </a:solidFill>
          </c:spPr>
          <c:invertIfNegative val="0"/>
          <c:dPt>
            <c:idx val="4"/>
            <c:invertIfNegative val="0"/>
            <c:spPr>
              <a:solidFill xmlns:a="http://schemas.openxmlformats.org/drawingml/2006/main">
                <a:srgbClr val="9AA1AA"/>
              </a:solidFill>
            </c:spPr>
          </c:dPt>
          <c:cat>
            <c:strLit>
              <c:ptCount val="5"/>
              <c:pt idx="0">
                <c:v>0.02–0.20</c:v>
              </c:pt>
              <c:pt idx="1">
                <c:v>0.20–0.40</c:v>
              </c:pt>
              <c:pt idx="2">
                <c:v>0.40–0.60</c:v>
              </c:pt>
              <c:pt idx="3">
                <c:v>0.60–0.80</c:v>
              </c:pt>
              <c:pt idx="4">
                <c:v>0.80–0.98</c:v>
              </c:pt>
            </c:strLit>
          </c:cat>
          <c:val>
            <c:numLit>
              <c:formatCode>0.0</c:formatCode>
              <c:ptCount val="5"/>
              <c:pt idx="0">
                <c:v>6.8</c:v>
              </c:pt>
              <c:pt idx="1">
                <c:v>9.3</c:v>
              </c:pt>
              <c:pt idx="2">
                <c:v>6</c:v>
              </c:pt>
              <c:pt idx="3">
                <c:v>3.9</c:v>
              </c:pt>
              <c:pt idx="4">
                <c:v>-2.6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B0D1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D6470"/>
                    </a:solidFill>
                  </a:rPr>
                  <a:t>Volume-averaged neutral fraction stage  x̄_HI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B0D1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1"/>
          <c:min val="-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D6470"/>
                    </a:solidFill>
                  </a:rPr>
                  <a:t>Restricted mean bubble-size bias  [%]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470"/>
                </a:solidFill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B3AA90C-3525-4200-9C92-60A1F024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MASTER'S THESIS • WORK IN PROGRESS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E6F312D-48A0-4921-B3C7-3215EB21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000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Learning the 21 cm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4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reionization field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7B677C3-1808-4DBB-A8FB-D1424BCF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From Fourier operators to local/global SirenFNO surrogates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693DF6EC-BD50-4676-91E7-E517D82C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Haris • August 2026</a:t>
            </a:r>
          </a:p>
        </p:txBody>
      </p:sp>
    </p:spTree>
    <p:extLst>
      <p:ext uri="{BB962C8B-B14F-4D97-AF65-F5344CB8AC3E}">
        <p14:creationId xmlns:p14="http://schemas.microsoft.com/office/powerpoint/2010/main" val="17421408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55E7D8-11A0-40D3-9380-12CEF456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21 cm maps the ionization field</a:t>
            </a:r>
          </a:p>
        </p:txBody>
      </p:sp>
      <p:sp>
        <p:nvSpPr>
          <p:cNvPr id="2" name="theory-label">
            <a:extLst xmlns:a="http://schemas.openxmlformats.org/drawingml/2006/main">
              <a:ext uri="{FF2B5EF4-FFF2-40B4-BE49-F238E27FC236}">
                <a16:creationId xmlns:a16="http://schemas.microsoft.com/office/drawing/2014/main" id="{CAB6554C-9852-437A-8DC4-649FC781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SATURATED-SPIN-TEMPERATURE LIMIT</a:t>
            </a:r>
          </a:p>
        </p:txBody>
      </p:sp>
      <p:sp>
        <p:nvSpPr>
          <p:cNvPr id="3" name="theory-equation">
            <a:extLst xmlns:a="http://schemas.openxmlformats.org/drawingml/2006/main">
              <a:ext uri="{FF2B5EF4-FFF2-40B4-BE49-F238E27FC236}">
                <a16:creationId xmlns:a16="http://schemas.microsoft.com/office/drawing/2014/main" id="{E2D68B59-E5DC-4744-99D0-3C0754B8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δTᵦ ∝ x_HI (1 + δₘ) × RSD</a:t>
            </a:r>
          </a:p>
        </p:txBody>
      </p:sp>
      <p:sp>
        <p:nvSpPr>
          <p:cNvPr id="4" name="theory-body">
            <a:extLst xmlns:a="http://schemas.openxmlformats.org/drawingml/2006/main">
              <a:ext uri="{FF2B5EF4-FFF2-40B4-BE49-F238E27FC236}">
                <a16:creationId xmlns:a16="http://schemas.microsoft.com/office/drawing/2014/main" id="{B98D0DAF-072C-4BA7-ADF7-7AF4AB62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538162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When Tₛ ≫ T_CMB, the spin-temperature factor is ≈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x_HI = 1: neutral gas, bright 21 cm signal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x_HI = 0: ionized bubble, signal suppressed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The mean x̄_HI(z) gives the global history; the spatial boundaries give the morphology.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07562152b4e59"/>
          <a:srcRect xmlns:a="http://schemas.openxmlformats.org/drawingml/2006/main" l="0" t="27133" r="0" b="27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381125"/>
            <a:ext cx="5543550" cy="4619625"/>
          </a:xfrm>
          <a:prstGeom xmlns:a="http://schemas.openxmlformats.org/drawingml/2006/main" prst="roundRect">
            <a:avLst>
              <a:gd name="adj" fmla="val 2474"/>
            </a:avLst>
          </a:prstGeom>
        </p:spPr>
      </p:pic>
      <p:sp>
        <p:nvSpPr>
          <p:cNvPr id="6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BC6656C1-6EE7-4F04-BFFF-60AAF318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PHYSICS</a:t>
            </a:r>
          </a:p>
        </p:txBody>
      </p:sp>
      <p:sp>
        <p:nvSpPr>
          <p:cNvPr id="7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9D51D5B9-B4DA-4C70-A14B-48ABFC91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099214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B43810-83BA-46EF-B2BD-CBB53885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The task is a conditional field-to-field operator</a:t>
            </a:r>
          </a:p>
        </p:txBody>
      </p:sp>
      <p:cxnSp>
        <p:nvCxnSpPr>
          <p:cNvPr id="19" name="pipeline-arrow-1"/>
          <p:cNvCxnSpPr/>
          <p:nvPr/>
        </p:nvCxnSpPr>
        <p:spPr>
          <a:xfrm xmlns:a="http://schemas.openxmlformats.org/drawingml/2006/main">
            <a:off x="3600450" y="358140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0" name="pipeline-arrow-2"/>
          <p:cNvCxnSpPr/>
          <p:nvPr/>
        </p:nvCxnSpPr>
        <p:spPr>
          <a:xfrm xmlns:a="http://schemas.openxmlformats.org/drawingml/2006/main">
            <a:off x="7600950" y="358140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input-node">
            <a:extLst xmlns:a="http://schemas.openxmlformats.org/drawingml/2006/main">
              <a:ext uri="{FF2B5EF4-FFF2-40B4-BE49-F238E27FC236}">
                <a16:creationId xmlns:a16="http://schemas.microsoft.com/office/drawing/2014/main" id="{16BB2020-D5AC-49F7-A470-8580412D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31432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operator-node">
            <a:extLst xmlns:a="http://schemas.openxmlformats.org/drawingml/2006/main">
              <a:ext uri="{FF2B5EF4-FFF2-40B4-BE49-F238E27FC236}">
                <a16:creationId xmlns:a16="http://schemas.microsoft.com/office/drawing/2014/main" id="{C8F9E274-B95B-42B6-84DA-EAB0533B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1432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DDF3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target-node">
            <a:extLst xmlns:a="http://schemas.openxmlformats.org/drawingml/2006/main">
              <a:ext uri="{FF2B5EF4-FFF2-40B4-BE49-F238E27FC236}">
                <a16:creationId xmlns:a16="http://schemas.microsoft.com/office/drawing/2014/main" id="{0732AD95-6C86-489A-9550-08EE3ABA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31432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input-label">
            <a:extLst xmlns:a="http://schemas.openxmlformats.org/drawingml/2006/main">
              <a:ext uri="{FF2B5EF4-FFF2-40B4-BE49-F238E27FC236}">
                <a16:creationId xmlns:a16="http://schemas.microsoft.com/office/drawing/2014/main" id="{7FF6D93C-BFFA-4C27-AA9E-85B934B0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INPUTS</a:t>
            </a:r>
          </a:p>
        </p:txBody>
      </p:sp>
      <p:sp>
        <p:nvSpPr>
          <p:cNvPr id="8" name="input-main">
            <a:extLst xmlns:a="http://schemas.openxmlformats.org/drawingml/2006/main">
              <a:ext uri="{FF2B5EF4-FFF2-40B4-BE49-F238E27FC236}">
                <a16:creationId xmlns:a16="http://schemas.microsoft.com/office/drawing/2014/main" id="{CA2608D6-FF7B-4960-ABD1-107478C7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619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δₘ(x, y, z)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+ 11 parameters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+ 1/(1+z)</a:t>
            </a:r>
          </a:p>
        </p:txBody>
      </p:sp>
      <p:sp>
        <p:nvSpPr>
          <p:cNvPr id="9" name="operator-label">
            <a:extLst xmlns:a="http://schemas.openxmlformats.org/drawingml/2006/main">
              <a:ext uri="{FF2B5EF4-FFF2-40B4-BE49-F238E27FC236}">
                <a16:creationId xmlns:a16="http://schemas.microsoft.com/office/drawing/2014/main" id="{6E124DA8-A91C-4BEF-8413-891D9733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76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NEURAL OPERATOR</a:t>
            </a:r>
          </a:p>
        </p:txBody>
      </p:sp>
      <p:sp>
        <p:nvSpPr>
          <p:cNvPr id="10" name="operator-symbol">
            <a:extLst xmlns:a="http://schemas.openxmlformats.org/drawingml/2006/main">
              <a:ext uri="{FF2B5EF4-FFF2-40B4-BE49-F238E27FC236}">
                <a16:creationId xmlns:a16="http://schemas.microsoft.com/office/drawing/2014/main" id="{71C899B7-FB3B-4FEB-B6A6-973F81D7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65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Gθ</a:t>
            </a:r>
          </a:p>
        </p:txBody>
      </p:sp>
      <p:sp>
        <p:nvSpPr>
          <p:cNvPr id="11" name="operator-body">
            <a:extLst xmlns:a="http://schemas.openxmlformats.org/drawingml/2006/main">
              <a:ext uri="{FF2B5EF4-FFF2-40B4-BE49-F238E27FC236}">
                <a16:creationId xmlns:a16="http://schemas.microsoft.com/office/drawing/2014/main" id="{733E8A9A-9060-4AB6-8E93-B39C3099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100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One set of weights learns a map between fields—not a lookup on one fixed image grid.</a:t>
            </a:r>
          </a:p>
        </p:txBody>
      </p:sp>
      <p:sp>
        <p:nvSpPr>
          <p:cNvPr id="12" name="target-label">
            <a:extLst xmlns:a="http://schemas.openxmlformats.org/drawingml/2006/main">
              <a:ext uri="{FF2B5EF4-FFF2-40B4-BE49-F238E27FC236}">
                <a16:creationId xmlns:a16="http://schemas.microsoft.com/office/drawing/2014/main" id="{4BE3388A-5BD1-4396-96D6-7C0F03F1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76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GROUND TRUTH</a:t>
            </a:r>
          </a:p>
        </p:txBody>
      </p:sp>
      <p:sp>
        <p:nvSpPr>
          <p:cNvPr id="13" name="target-main">
            <a:extLst xmlns:a="http://schemas.openxmlformats.org/drawingml/2006/main">
              <a:ext uri="{FF2B5EF4-FFF2-40B4-BE49-F238E27FC236}">
                <a16:creationId xmlns:a16="http://schemas.microsoft.com/office/drawing/2014/main" id="{505C49B0-D2E1-448C-B2A4-FD976601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48000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x_HI(x, y, z)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∈ [0, 1]</a:t>
            </a:r>
          </a:p>
        </p:txBody>
      </p:sp>
      <p:sp>
        <p:nvSpPr>
          <p:cNvPr id="14" name="target-body">
            <a:extLst xmlns:a="http://schemas.openxmlformats.org/drawingml/2006/main">
              <a:ext uri="{FF2B5EF4-FFF2-40B4-BE49-F238E27FC236}">
                <a16:creationId xmlns:a16="http://schemas.microsoft.com/office/drawing/2014/main" id="{BE554ED5-508D-4C5D-BE7B-5EE85494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Sharp ionization fronts across cosmic time</a:t>
            </a:r>
          </a:p>
        </p:txBody>
      </p:sp>
      <p:sp>
        <p:nvSpPr>
          <p:cNvPr id="15" name="dataset-strip">
            <a:extLst xmlns:a="http://schemas.openxmlformats.org/drawingml/2006/main">
              <a:ext uri="{FF2B5EF4-FFF2-40B4-BE49-F238E27FC236}">
                <a16:creationId xmlns:a16="http://schemas.microsoft.com/office/drawing/2014/main" id="{6E4FB8AD-7DAA-494D-BE4A-B777D155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245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6,600 cones  •  140 × 140 × 256  •  z = 5 → 25  •  80 / 10 / 10 split</a:t>
            </a:r>
          </a:p>
        </p:txBody>
      </p:sp>
      <p:sp>
        <p:nvSpPr>
          <p:cNvPr id="16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BE921756-99E3-4B7E-9A0D-98877137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DATA + TASK</a:t>
            </a:r>
          </a:p>
        </p:txBody>
      </p:sp>
      <p:sp>
        <p:nvSpPr>
          <p:cNvPr id="17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EA5BF883-86D9-4121-B277-045BC143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76752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5E669B-D30D-4583-AD3D-8AFA1CB6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Operator slot mattered more than basis choice</a:t>
            </a:r>
          </a:p>
        </p:txBody>
      </p:sp>
      <p:cxnSp>
        <p:nvCxnSpPr>
          <p:cNvPr id="15" name="journey-line"/>
          <p:cNvCxnSpPr/>
          <p:nvPr/>
        </p:nvCxnSpPr>
        <p:spPr>
          <a:xfrm xmlns:a="http://schemas.openxmlformats.org/drawingml/2006/main">
            <a:off x="342900" y="3333750"/>
            <a:ext cx="11430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0D12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FDD44780-0865-4739-8395-B20B88B6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03FA3532-C0F1-47BA-AA44-71B678B9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59A250-4A03-4E1A-883C-3EA493F9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9C71F270-AC62-40A3-B940-A826BE5C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336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01  GLOBAL OPERATOR</a:t>
            </a:r>
          </a:p>
        </p:txBody>
      </p:sp>
      <p:sp>
        <p:nvSpPr>
          <p:cNvPr id="7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A2360E0E-CA9B-402A-ABC1-A73A0DB4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336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02  MATCH THE BASIS</a:t>
            </a:r>
          </a:p>
        </p:txBody>
      </p:sp>
      <p:sp>
        <p:nvSpPr>
          <p:cNvPr id="8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97F462C9-BFE6-467C-BA86-79821245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336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MEASURED LESSON</a:t>
            </a:r>
          </a:p>
        </p:txBody>
      </p:sp>
      <p:sp>
        <p:nvSpPr>
          <p:cNvPr id="9" name="journey-body-1">
            <a:extLst xmlns:a="http://schemas.openxmlformats.org/drawingml/2006/main">
              <a:ext uri="{FF2B5EF4-FFF2-40B4-BE49-F238E27FC236}">
                <a16:creationId xmlns:a16="http://schemas.microsoft.com/office/drawing/2014/main" id="{73F2C7CD-1533-4ECA-B6BF-1D6DB32A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314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FNO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FFT → learned low-mode weights → inverse FFT.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Fast global context, but a smooth truncated basis is awkward for discontinuities.</a:t>
            </a:r>
          </a:p>
        </p:txBody>
      </p:sp>
      <p:sp>
        <p:nvSpPr>
          <p:cNvPr id="10" name="journey-body-2">
            <a:extLst xmlns:a="http://schemas.openxmlformats.org/drawingml/2006/main">
              <a:ext uri="{FF2B5EF4-FFF2-40B4-BE49-F238E27FC236}">
                <a16:creationId xmlns:a16="http://schemas.microsoft.com/office/drawing/2014/main" id="{58233F09-76B5-4218-BDD1-7D7E2340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71900"/>
            <a:ext cx="314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Wavelet NO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Local, multiscale Haar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WHNO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Global Walsh–Hadamard step waves for piecewise-constant structure.</a:t>
            </a:r>
          </a:p>
        </p:txBody>
      </p:sp>
      <p:sp>
        <p:nvSpPr>
          <p:cNvPr id="11" name="journey-body-3">
            <a:extLst xmlns:a="http://schemas.openxmlformats.org/drawingml/2006/main">
              <a:ext uri="{FF2B5EF4-FFF2-40B4-BE49-F238E27FC236}">
                <a16:creationId xmlns:a16="http://schemas.microsoft.com/office/drawing/2014/main" id="{35AE624C-3766-4FE7-B56D-F0DC5AB5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71900"/>
            <a:ext cx="314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Global-slot WHNO reached 2-D RMSE 0.1453.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Changing where the transform acts mattered more than changing the local branch itself.</a:t>
            </a:r>
          </a:p>
        </p:txBody>
      </p:sp>
      <p:sp>
        <p:nvSpPr>
          <p:cNvPr id="12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95B2DE01-3D7F-4C3C-9A3D-2BAFE5F6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MODEL JOURNEY</a:t>
            </a:r>
          </a:p>
        </p:txBody>
      </p:sp>
      <p:sp>
        <p:nvSpPr>
          <p:cNvPr id="13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DD6EAC36-FE4A-41D8-8149-D77CE495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76316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89785C-C1BF-4BA1-BB0D-05DFF401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The final design gives each ingredient a distinct job</a:t>
            </a:r>
          </a:p>
        </p:txBody>
      </p:sp>
      <p:sp>
        <p:nvSpPr>
          <p:cNvPr id="2" name="ingredient-1-title">
            <a:extLst xmlns:a="http://schemas.openxmlformats.org/drawingml/2006/main">
              <a:ext uri="{FF2B5EF4-FFF2-40B4-BE49-F238E27FC236}">
                <a16:creationId xmlns:a16="http://schemas.microsoft.com/office/drawing/2014/main" id="{F4338C3C-ECAE-44C5-B558-3CAAEC9F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U-NET BACKBONE</a:t>
            </a:r>
          </a:p>
        </p:txBody>
      </p:sp>
      <p:sp>
        <p:nvSpPr>
          <p:cNvPr id="3" name="ingredient-1-body">
            <a:extLst xmlns:a="http://schemas.openxmlformats.org/drawingml/2006/main">
              <a:ext uri="{FF2B5EF4-FFF2-40B4-BE49-F238E27FC236}">
                <a16:creationId xmlns:a16="http://schemas.microsoft.com/office/drawing/2014/main" id="{98236837-A643-449F-BD2E-9F238350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Multiscale local paths and skip connections preserve compact structure.</a:t>
            </a:r>
          </a:p>
        </p:txBody>
      </p:sp>
      <p:sp>
        <p:nvSpPr>
          <p:cNvPr id="4" name="ingredient-2-title">
            <a:extLst xmlns:a="http://schemas.openxmlformats.org/drawingml/2006/main">
              <a:ext uri="{FF2B5EF4-FFF2-40B4-BE49-F238E27FC236}">
                <a16:creationId xmlns:a16="http://schemas.microsoft.com/office/drawing/2014/main" id="{AA65BF13-89B1-4E0A-A588-11CF00D0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LOCAL / GLOBAL SPLIT</a:t>
            </a:r>
          </a:p>
        </p:txBody>
      </p:sp>
      <p:sp>
        <p:nvSpPr>
          <p:cNvPr id="5" name="ingredient-2-body">
            <a:extLst xmlns:a="http://schemas.openxmlformats.org/drawingml/2006/main">
              <a:ext uri="{FF2B5EF4-FFF2-40B4-BE49-F238E27FC236}">
                <a16:creationId xmlns:a16="http://schemas.microsoft.com/office/drawing/2014/main" id="{E14D9EAD-C332-449A-913F-071C6A16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Windowed operators handle detail; one whole-field bottleneck handles timing and long-range morphology.</a:t>
            </a:r>
          </a:p>
        </p:txBody>
      </p:sp>
      <p:sp>
        <p:nvSpPr>
          <p:cNvPr id="6" name="ingredient-3-title">
            <a:extLst xmlns:a="http://schemas.openxmlformats.org/drawingml/2006/main">
              <a:ext uri="{FF2B5EF4-FFF2-40B4-BE49-F238E27FC236}">
                <a16:creationId xmlns:a16="http://schemas.microsoft.com/office/drawing/2014/main" id="{7473B665-3BA9-4243-A086-D58CE037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SIREN HYPERNETWORK</a:t>
            </a:r>
          </a:p>
        </p:txBody>
      </p:sp>
      <p:sp>
        <p:nvSpPr>
          <p:cNvPr id="7" name="ingredient-3-body">
            <a:extLst xmlns:a="http://schemas.openxmlformats.org/drawingml/2006/main">
              <a:ext uri="{FF2B5EF4-FFF2-40B4-BE49-F238E27FC236}">
                <a16:creationId xmlns:a16="http://schemas.microsoft.com/office/drawing/2014/main" id="{CEB6C642-4A92-4E86-BC1C-343C76A8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514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k → Rφ(k): generate the spectral kernel over the full grid instead of storing a truncated mode table.</a:t>
            </a:r>
          </a:p>
        </p:txBody>
      </p:sp>
      <p:cxnSp>
        <p:nvCxnSpPr>
          <p:cNvPr id="39" name="arch-input-encoder"/>
          <p:cNvCxnSpPr/>
          <p:nvPr/>
        </p:nvCxnSpPr>
        <p:spPr>
          <a:xfrm xmlns:a="http://schemas.openxmlformats.org/drawingml/2006/main">
            <a:off x="6610350" y="34766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0" name="arch-encoder-global"/>
          <p:cNvCxnSpPr/>
          <p:nvPr/>
        </p:nvCxnSpPr>
        <p:spPr>
          <a:xfrm xmlns:a="http://schemas.openxmlformats.org/drawingml/2006/main">
            <a:off x="8020050" y="2743200"/>
            <a:ext cx="91440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1" name="arch-global-decoder"/>
          <p:cNvCxnSpPr/>
          <p:nvPr/>
        </p:nvCxnSpPr>
        <p:spPr>
          <a:xfrm xmlns:a="http://schemas.openxmlformats.org/drawingml/2006/main" flipV="1">
            <a:off x="9734550" y="2743200"/>
            <a:ext cx="78105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2" name="arch-decoder-output"/>
          <p:cNvCxnSpPr/>
          <p:nvPr/>
        </p:nvCxnSpPr>
        <p:spPr>
          <a:xfrm xmlns:a="http://schemas.openxmlformats.org/drawingml/2006/main">
            <a:off x="11468100" y="34766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3" name="arch-skip-top"/>
          <p:cNvCxnSpPr/>
          <p:nvPr/>
        </p:nvCxnSpPr>
        <p:spPr>
          <a:xfrm xmlns:a="http://schemas.openxmlformats.org/drawingml/2006/main">
            <a:off x="7543800" y="2286000"/>
            <a:ext cx="3448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4" name="arch-skip-left"/>
          <p:cNvCxnSpPr/>
          <p:nvPr/>
        </p:nvCxnSpPr>
        <p:spPr>
          <a:xfrm xmlns:a="http://schemas.openxmlformats.org/drawingml/2006/main">
            <a:off x="7543800" y="22860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5" name="arch-skip-right"/>
          <p:cNvCxnSpPr/>
          <p:nvPr/>
        </p:nvCxnSpPr>
        <p:spPr>
          <a:xfrm xmlns:a="http://schemas.openxmlformats.org/drawingml/2006/main">
            <a:off x="10991850" y="22860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6" name="siren-to-global"/>
          <p:cNvCxnSpPr/>
          <p:nvPr/>
        </p:nvCxnSpPr>
        <p:spPr>
          <a:xfrm xmlns:a="http://schemas.openxmlformats.org/drawingml/2006/main">
            <a:off x="9172575" y="2143125"/>
            <a:ext cx="22860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2A86"/>
            </a:solidFill>
            <a:prstDash val="dash"/>
          </a:ln>
        </p:spPr>
      </p:cxnSp>
      <p:cxnSp>
        <p:nvCxnSpPr>
          <p:cNvPr id="47" name="siren-to-local"/>
          <p:cNvCxnSpPr/>
          <p:nvPr/>
        </p:nvCxnSpPr>
        <p:spPr>
          <a:xfrm xmlns:a="http://schemas.openxmlformats.org/drawingml/2006/main" flipH="1">
            <a:off x="8191500" y="2152650"/>
            <a:ext cx="352425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2A86"/>
            </a:solidFill>
            <a:prstDash val="dash"/>
          </a:ln>
        </p:spPr>
      </p:cxnSp>
      <p:sp>
        <p:nvSpPr>
          <p:cNvPr id="17" name="arch-input">
            <a:extLst xmlns:a="http://schemas.openxmlformats.org/drawingml/2006/main">
              <a:ext uri="{FF2B5EF4-FFF2-40B4-BE49-F238E27FC236}">
                <a16:creationId xmlns:a16="http://schemas.microsoft.com/office/drawing/2014/main" id="{757BAB01-C671-4268-A9E1-CD0D7AF0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8763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arch-input-text">
            <a:extLst xmlns:a="http://schemas.openxmlformats.org/drawingml/2006/main">
              <a:ext uri="{FF2B5EF4-FFF2-40B4-BE49-F238E27FC236}">
                <a16:creationId xmlns:a16="http://schemas.microsoft.com/office/drawing/2014/main" id="{AB8D4760-A259-4038-83A8-8943ABCC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13 ch</a:t>
            </a:r>
          </a:p>
        </p:txBody>
      </p:sp>
      <p:sp>
        <p:nvSpPr>
          <p:cNvPr id="19" name="arch-encoder">
            <a:extLst xmlns:a="http://schemas.openxmlformats.org/drawingml/2006/main">
              <a:ext uri="{FF2B5EF4-FFF2-40B4-BE49-F238E27FC236}">
                <a16:creationId xmlns:a16="http://schemas.microsoft.com/office/drawing/2014/main" id="{E30E6C0A-9B53-41AD-B5C0-8ABA91F3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47950"/>
            <a:ext cx="1371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DF3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arch-encoder-text">
            <a:extLst xmlns:a="http://schemas.openxmlformats.org/drawingml/2006/main">
              <a:ext uri="{FF2B5EF4-FFF2-40B4-BE49-F238E27FC236}">
                <a16:creationId xmlns:a16="http://schemas.microsoft.com/office/drawing/2014/main" id="{C3DAA244-F963-44D2-A294-E6B3C282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local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operator</a:t>
            </a:r>
          </a:p>
        </p:txBody>
      </p:sp>
      <p:sp>
        <p:nvSpPr>
          <p:cNvPr id="21" name="arch-global">
            <a:extLst xmlns:a="http://schemas.openxmlformats.org/drawingml/2006/main">
              <a:ext uri="{FF2B5EF4-FFF2-40B4-BE49-F238E27FC236}">
                <a16:creationId xmlns:a16="http://schemas.microsoft.com/office/drawing/2014/main" id="{85FCE640-98C8-44B0-A1B8-1068026B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62375"/>
            <a:ext cx="1485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0B0D12"/>
            </a:solidFill>
            <a:prstDash val="solid"/>
          </a:ln>
        </p:spPr>
      </p:sp>
      <p:sp>
        <p:nvSpPr>
          <p:cNvPr id="22" name="arch-global-text">
            <a:extLst xmlns:a="http://schemas.openxmlformats.org/drawingml/2006/main">
              <a:ext uri="{FF2B5EF4-FFF2-40B4-BE49-F238E27FC236}">
                <a16:creationId xmlns:a16="http://schemas.microsoft.com/office/drawing/2014/main" id="{FCA82F7F-CF0B-4C17-9627-9840228E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71925"/>
            <a:ext cx="118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global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bottleneck</a:t>
            </a:r>
          </a:p>
        </p:txBody>
      </p:sp>
      <p:sp>
        <p:nvSpPr>
          <p:cNvPr id="23" name="arch-decoder">
            <a:extLst xmlns:a="http://schemas.openxmlformats.org/drawingml/2006/main">
              <a:ext uri="{FF2B5EF4-FFF2-40B4-BE49-F238E27FC236}">
                <a16:creationId xmlns:a16="http://schemas.microsoft.com/office/drawing/2014/main" id="{4095D1C2-B29A-49CD-ABEB-CCE36370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647950"/>
            <a:ext cx="95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DF3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arch-decoder-text">
            <a:extLst xmlns:a="http://schemas.openxmlformats.org/drawingml/2006/main">
              <a:ext uri="{FF2B5EF4-FFF2-40B4-BE49-F238E27FC236}">
                <a16:creationId xmlns:a16="http://schemas.microsoft.com/office/drawing/2014/main" id="{F730C0EC-85EC-4CE7-AAD1-BAEB0260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9622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decode</a:t>
            </a:r>
          </a:p>
        </p:txBody>
      </p:sp>
      <p:sp>
        <p:nvSpPr>
          <p:cNvPr id="25" name="arch-output">
            <a:extLst xmlns:a="http://schemas.openxmlformats.org/drawingml/2006/main">
              <a:ext uri="{FF2B5EF4-FFF2-40B4-BE49-F238E27FC236}">
                <a16:creationId xmlns:a16="http://schemas.microsoft.com/office/drawing/2014/main" id="{F2B00013-B506-42A9-AEEB-D46E11AE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43250"/>
            <a:ext cx="495300" cy="6667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arch-output-text">
            <a:extLst xmlns:a="http://schemas.openxmlformats.org/drawingml/2006/main">
              <a:ext uri="{FF2B5EF4-FFF2-40B4-BE49-F238E27FC236}">
                <a16:creationId xmlns:a16="http://schemas.microsoft.com/office/drawing/2014/main" id="{4A580968-6E53-43D6-93FE-DCB0CBC4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3242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x</a:t>
            </a:r>
          </a:p>
        </p:txBody>
      </p:sp>
      <p:sp>
        <p:nvSpPr>
          <p:cNvPr id="27" name="arch-siren">
            <a:extLst xmlns:a="http://schemas.openxmlformats.org/drawingml/2006/main">
              <a:ext uri="{FF2B5EF4-FFF2-40B4-BE49-F238E27FC236}">
                <a16:creationId xmlns:a16="http://schemas.microsoft.com/office/drawing/2014/main" id="{937755FD-A3E7-4027-9605-1564748E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428750"/>
            <a:ext cx="18478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1E8FA"/>
          </a:solidFill>
          <a:ln xmlns:a="http://schemas.openxmlformats.org/drawingml/2006/main" w="9525">
            <a:solidFill>
              <a:srgbClr val="5B2A86"/>
            </a:solidFill>
            <a:prstDash val="solid"/>
          </a:ln>
        </p:spPr>
      </p:sp>
      <p:sp>
        <p:nvSpPr>
          <p:cNvPr id="28" name="arch-siren-text">
            <a:extLst xmlns:a="http://schemas.openxmlformats.org/drawingml/2006/main">
              <a:ext uri="{FF2B5EF4-FFF2-40B4-BE49-F238E27FC236}">
                <a16:creationId xmlns:a16="http://schemas.microsoft.com/office/drawing/2014/main" id="{FC90BA96-7488-4B79-A20B-11942EAA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811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5B2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5B2A86"/>
                </a:solidFill>
                <a:latin typeface="Helvetica Neue"/>
                <a:ea typeface="Helvetica Neue"/>
                <a:cs typeface="Helvetica Neue"/>
              </a:rPr>
              <a:t>SIREN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5B2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5B2A86"/>
                </a:solidFill>
                <a:latin typeface="Helvetica Neue"/>
                <a:ea typeface="Helvetica Neue"/>
                <a:cs typeface="Helvetica Neue"/>
              </a:rPr>
              <a:t>k → Rφ(k)</a:t>
            </a:r>
          </a:p>
        </p:txBody>
      </p:sp>
      <p:sp>
        <p:nvSpPr>
          <p:cNvPr id="29" name="arch-skip-label">
            <a:extLst xmlns:a="http://schemas.openxmlformats.org/drawingml/2006/main">
              <a:ext uri="{FF2B5EF4-FFF2-40B4-BE49-F238E27FC236}">
                <a16:creationId xmlns:a16="http://schemas.microsoft.com/office/drawing/2014/main" id="{91C1733E-796C-4801-8D29-CE2CF662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383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U-Net skip</a:t>
            </a:r>
          </a:p>
        </p:txBody>
      </p:sp>
      <p:sp>
        <p:nvSpPr>
          <p:cNvPr id="30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8C952907-C4AA-4403-9FEA-B5580ECD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MODEL JOURNEY</a:t>
            </a:r>
          </a:p>
        </p:txBody>
      </p:sp>
      <p:sp>
        <p:nvSpPr>
          <p:cNvPr id="31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7359FA82-6DF3-4726-BDC2-F5BF4D70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99034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52DD5E-5462-464C-8E56-AE3D0569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Local SirenFNO nearly reaches the plain U-FNO floor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0050" y="1390650"/>
          <a:ext xmlns:a="http://schemas.openxmlformats.org/drawingml/2006/main" cx="6858000" cy="4495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810687127c48a9"/>
          </a:graphicData>
        </a:graphic>
      </p:graphicFrame>
      <p:sp>
        <p:nvSpPr>
          <p:cNvPr id="3" name="rank-axis-caption">
            <a:extLst xmlns:a="http://schemas.openxmlformats.org/drawingml/2006/main">
              <a:ext uri="{FF2B5EF4-FFF2-40B4-BE49-F238E27FC236}">
                <a16:creationId xmlns:a16="http://schemas.microsoft.com/office/drawing/2014/main" id="{E5C9E7D8-844E-41C0-BCDC-8D858869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Held-out 3-D RMSE at each run’s best epoch ≤ 19  →  lower is better</a:t>
            </a:r>
          </a:p>
        </p:txBody>
      </p:sp>
      <p:sp>
        <p:nvSpPr>
          <p:cNvPr id="4" name="rank-callout-1">
            <a:extLst xmlns:a="http://schemas.openxmlformats.org/drawingml/2006/main">
              <a:ext uri="{FF2B5EF4-FFF2-40B4-BE49-F238E27FC236}">
                <a16:creationId xmlns:a16="http://schemas.microsoft.com/office/drawing/2014/main" id="{9CF24B0E-E6CF-4C9B-B9C3-AEAE1003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390650"/>
            <a:ext cx="4114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nk-callout-1-value">
            <a:extLst xmlns:a="http://schemas.openxmlformats.org/drawingml/2006/main">
              <a:ext uri="{FF2B5EF4-FFF2-40B4-BE49-F238E27FC236}">
                <a16:creationId xmlns:a16="http://schemas.microsoft.com/office/drawing/2014/main" id="{331096F1-DB6B-463E-B0F1-A52B03FF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2877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0.0467</a:t>
            </a:r>
          </a:p>
        </p:txBody>
      </p:sp>
      <p:sp>
        <p:nvSpPr>
          <p:cNvPr id="6" name="rank-callout-1-body">
            <a:extLst xmlns:a="http://schemas.openxmlformats.org/drawingml/2006/main">
              <a:ext uri="{FF2B5EF4-FFF2-40B4-BE49-F238E27FC236}">
                <a16:creationId xmlns:a16="http://schemas.microsoft.com/office/drawing/2014/main" id="{5156B964-FADF-48B4-9885-59CB7BA0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57350"/>
            <a:ext cx="1943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plain U-FNO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GroupNorm baseline</a:t>
            </a:r>
          </a:p>
        </p:txBody>
      </p:sp>
      <p:sp>
        <p:nvSpPr>
          <p:cNvPr id="7" name="rank-callout-2">
            <a:extLst xmlns:a="http://schemas.openxmlformats.org/drawingml/2006/main">
              <a:ext uri="{FF2B5EF4-FFF2-40B4-BE49-F238E27FC236}">
                <a16:creationId xmlns:a16="http://schemas.microsoft.com/office/drawing/2014/main" id="{0B502FA8-8294-4488-81BA-B5D03466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95600"/>
            <a:ext cx="4114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ank-callout-2-value">
            <a:extLst xmlns:a="http://schemas.openxmlformats.org/drawingml/2006/main">
              <a:ext uri="{FF2B5EF4-FFF2-40B4-BE49-F238E27FC236}">
                <a16:creationId xmlns:a16="http://schemas.microsoft.com/office/drawing/2014/main" id="{E97D5A00-AE57-4245-9ED3-931C44D4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337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0.0488</a:t>
            </a:r>
          </a:p>
        </p:txBody>
      </p:sp>
      <p:sp>
        <p:nvSpPr>
          <p:cNvPr id="9" name="rank-callout-2-body">
            <a:extLst xmlns:a="http://schemas.openxmlformats.org/drawingml/2006/main">
              <a:ext uri="{FF2B5EF4-FFF2-40B4-BE49-F238E27FC236}">
                <a16:creationId xmlns:a16="http://schemas.microsoft.com/office/drawing/2014/main" id="{683663C6-A5C4-446C-A8DC-A560DEDD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62300"/>
            <a:ext cx="1943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Local SirenFNO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only 4.5% higher</a:t>
            </a:r>
          </a:p>
        </p:txBody>
      </p:sp>
      <p:sp>
        <p:nvSpPr>
          <p:cNvPr id="10" name="rank-callout-3">
            <a:extLst xmlns:a="http://schemas.openxmlformats.org/drawingml/2006/main">
              <a:ext uri="{FF2B5EF4-FFF2-40B4-BE49-F238E27FC236}">
                <a16:creationId xmlns:a16="http://schemas.microsoft.com/office/drawing/2014/main" id="{B894CB43-5605-442E-A05C-B415A679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00550"/>
            <a:ext cx="4114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nk-callout-3-value">
            <a:extLst xmlns:a="http://schemas.openxmlformats.org/drawingml/2006/main">
              <a:ext uri="{FF2B5EF4-FFF2-40B4-BE49-F238E27FC236}">
                <a16:creationId xmlns:a16="http://schemas.microsoft.com/office/drawing/2014/main" id="{67E0A009-3D00-42E9-8120-6B26B0D9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3867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0.0548</a:t>
            </a:r>
          </a:p>
        </p:txBody>
      </p:sp>
      <p:sp>
        <p:nvSpPr>
          <p:cNvPr id="12" name="rank-callout-3-body">
            <a:extLst xmlns:a="http://schemas.openxmlformats.org/drawingml/2006/main">
              <a:ext uri="{FF2B5EF4-FFF2-40B4-BE49-F238E27FC236}">
                <a16:creationId xmlns:a16="http://schemas.microsoft.com/office/drawing/2014/main" id="{43D980C7-CA24-4085-914B-5E1AB0E7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943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global SirenFNO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17% higher</a:t>
            </a:r>
          </a:p>
        </p:txBody>
      </p:sp>
      <p:sp>
        <p:nvSpPr>
          <p:cNvPr id="13" name="rank-method">
            <a:extLst xmlns:a="http://schemas.openxmlformats.org/drawingml/2006/main">
              <a:ext uri="{FF2B5EF4-FFF2-40B4-BE49-F238E27FC236}">
                <a16:creationId xmlns:a16="http://schemas.microsoft.com/office/drawing/2014/main" id="{C05E4EA0-5209-42F7-82F9-8A1E87C9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88645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Best epoch ≤ 19 on the common 3-D grid; held-out cones.</a:t>
            </a:r>
          </a:p>
        </p:txBody>
      </p:sp>
      <p:sp>
        <p:nvSpPr>
          <p:cNvPr id="14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EB5FCDD2-31A0-41C6-8E12-D9BC03F9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RESULTS • GLOBAL L²</a:t>
            </a:r>
          </a:p>
        </p:txBody>
      </p:sp>
      <p:sp>
        <p:nvSpPr>
          <p:cNvPr id="15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53ABC842-01DD-48DE-8382-07084B20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00904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812BB6-E079-446D-A0EA-53ECA1DB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Sharper walls cost global L² accuracy</a:t>
            </a:r>
          </a:p>
        </p:txBody>
      </p:sp>
      <p:sp>
        <p:nvSpPr>
          <p:cNvPr id="2" name="edge-baseline-label">
            <a:extLst xmlns:a="http://schemas.openxmlformats.org/drawingml/2006/main">
              <a:ext uri="{FF2B5EF4-FFF2-40B4-BE49-F238E27FC236}">
                <a16:creationId xmlns:a16="http://schemas.microsoft.com/office/drawing/2014/main" id="{F993D375-D0F4-41C0-A5D1-72B5F1DA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L² BASELINE</a:t>
            </a:r>
          </a:p>
        </p:txBody>
      </p:sp>
      <p:sp>
        <p:nvSpPr>
          <p:cNvPr id="3" name="edge-expwall-label">
            <a:extLst xmlns:a="http://schemas.openxmlformats.org/drawingml/2006/main">
              <a:ext uri="{FF2B5EF4-FFF2-40B4-BE49-F238E27FC236}">
                <a16:creationId xmlns:a16="http://schemas.microsoft.com/office/drawing/2014/main" id="{65C0A6B1-41D6-4660-A625-52167FAB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504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EXPWALL  s = 16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1b71fd25c4088"/>
          <a:srcRect xmlns:a="http://schemas.openxmlformats.org/drawingml/2006/main" l="0" t="17949" r="0" b="179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8859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2b466d1db4837"/>
          <a:srcRect xmlns:a="http://schemas.openxmlformats.org/drawingml/2006/main" l="0" t="17949" r="0" b="179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05150" y="18859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6" name="edge-truth">
            <a:extLst xmlns:a="http://schemas.openxmlformats.org/drawingml/2006/main">
              <a:ext uri="{FF2B5EF4-FFF2-40B4-BE49-F238E27FC236}">
                <a16:creationId xmlns:a16="http://schemas.microsoft.com/office/drawing/2014/main" id="{49179E9D-1FD5-4136-A59E-7932777A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24375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Truth front width: 1.46 px</a:t>
            </a:r>
          </a:p>
        </p:txBody>
      </p:sp>
      <p:sp>
        <p:nvSpPr>
          <p:cNvPr id="7" name="edge-scope">
            <a:extLst xmlns:a="http://schemas.openxmlformats.org/drawingml/2006/main">
              <a:ext uri="{FF2B5EF4-FFF2-40B4-BE49-F238E27FC236}">
                <a16:creationId xmlns:a16="http://schemas.microsoft.com/office/drawing/2014/main" id="{D51D5EF6-DA77-4806-AD6A-475C7639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015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2-D x_HI slices • 384 shared held-out examples</a:t>
            </a:r>
          </a:p>
        </p:txBody>
      </p:sp>
      <p:sp>
        <p:nvSpPr>
          <p:cNvPr id="8" name="edge-table-head-1">
            <a:extLst xmlns:a="http://schemas.openxmlformats.org/drawingml/2006/main">
              <a:ext uri="{FF2B5EF4-FFF2-40B4-BE49-F238E27FC236}">
                <a16:creationId xmlns:a16="http://schemas.microsoft.com/office/drawing/2014/main" id="{C0029D7C-20AA-4821-AD0D-E2DF438C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METRIC</a:t>
            </a:r>
          </a:p>
        </p:txBody>
      </p:sp>
      <p:sp>
        <p:nvSpPr>
          <p:cNvPr id="9" name="edge-table-head-2">
            <a:extLst xmlns:a="http://schemas.openxmlformats.org/drawingml/2006/main">
              <a:ext uri="{FF2B5EF4-FFF2-40B4-BE49-F238E27FC236}">
                <a16:creationId xmlns:a16="http://schemas.microsoft.com/office/drawing/2014/main" id="{CFC2AF4D-A3A1-4F65-8111-CCA25675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L²</a:t>
            </a:r>
          </a:p>
        </p:txBody>
      </p:sp>
      <p:sp>
        <p:nvSpPr>
          <p:cNvPr id="10" name="edge-table-head-3">
            <a:extLst xmlns:a="http://schemas.openxmlformats.org/drawingml/2006/main">
              <a:ext uri="{FF2B5EF4-FFF2-40B4-BE49-F238E27FC236}">
                <a16:creationId xmlns:a16="http://schemas.microsoft.com/office/drawing/2014/main" id="{CF0A2A66-908D-4C86-B680-4BD52FCB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EXPWALL</a:t>
            </a:r>
          </a:p>
        </p:txBody>
      </p:sp>
      <p:cxnSp>
        <p:nvCxnSpPr>
          <p:cNvPr id="38" name="edge-row-rule-0"/>
          <p:cNvCxnSpPr/>
          <p:nvPr/>
        </p:nvCxnSpPr>
        <p:spPr>
          <a:xfrm xmlns:a="http://schemas.openxmlformats.org/drawingml/2006/main">
            <a:off x="6191250" y="2095500"/>
            <a:ext cx="5429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2"/>
            </a:solidFill>
            <a:prstDash val="solid"/>
          </a:ln>
        </p:spPr>
      </p:cxnSp>
      <p:cxnSp>
        <p:nvCxnSpPr>
          <p:cNvPr id="39" name="edge-row-rule-1"/>
          <p:cNvCxnSpPr/>
          <p:nvPr/>
        </p:nvCxnSpPr>
        <p:spPr>
          <a:xfrm xmlns:a="http://schemas.openxmlformats.org/drawingml/2006/main">
            <a:off x="6191250" y="2933700"/>
            <a:ext cx="5429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0" name="edge-row-rule-2"/>
          <p:cNvCxnSpPr/>
          <p:nvPr/>
        </p:nvCxnSpPr>
        <p:spPr>
          <a:xfrm xmlns:a="http://schemas.openxmlformats.org/drawingml/2006/main">
            <a:off x="6191250" y="3771900"/>
            <a:ext cx="5429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1" name="edge-row-rule-3"/>
          <p:cNvCxnSpPr/>
          <p:nvPr/>
        </p:nvCxnSpPr>
        <p:spPr>
          <a:xfrm xmlns:a="http://schemas.openxmlformats.org/drawingml/2006/main">
            <a:off x="6191250" y="4610100"/>
            <a:ext cx="5429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edge-row-1-label">
            <a:extLst xmlns:a="http://schemas.openxmlformats.org/drawingml/2006/main">
              <a:ext uri="{FF2B5EF4-FFF2-40B4-BE49-F238E27FC236}">
                <a16:creationId xmlns:a16="http://schemas.microsoft.com/office/drawing/2014/main" id="{54585586-72A4-4553-9741-4782E74C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Held-out RMSE</a:t>
            </a:r>
          </a:p>
        </p:txBody>
      </p:sp>
      <p:sp>
        <p:nvSpPr>
          <p:cNvPr id="16" name="edge-row-1-l2">
            <a:extLst xmlns:a="http://schemas.openxmlformats.org/drawingml/2006/main">
              <a:ext uri="{FF2B5EF4-FFF2-40B4-BE49-F238E27FC236}">
                <a16:creationId xmlns:a16="http://schemas.microsoft.com/office/drawing/2014/main" id="{97E6A15D-D518-4D7F-AA5B-1C27F218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0.1448</a:t>
            </a:r>
          </a:p>
        </p:txBody>
      </p:sp>
      <p:sp>
        <p:nvSpPr>
          <p:cNvPr id="17" name="edge-row-1-exp">
            <a:extLst xmlns:a="http://schemas.openxmlformats.org/drawingml/2006/main">
              <a:ext uri="{FF2B5EF4-FFF2-40B4-BE49-F238E27FC236}">
                <a16:creationId xmlns:a16="http://schemas.microsoft.com/office/drawing/2014/main" id="{7F2213AB-018C-4396-BA42-B2863993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860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0.1767</a:t>
            </a:r>
          </a:p>
        </p:txBody>
      </p:sp>
      <p:sp>
        <p:nvSpPr>
          <p:cNvPr id="18" name="edge-row-2-label">
            <a:extLst xmlns:a="http://schemas.openxmlformats.org/drawingml/2006/main">
              <a:ext uri="{FF2B5EF4-FFF2-40B4-BE49-F238E27FC236}">
                <a16:creationId xmlns:a16="http://schemas.microsoft.com/office/drawing/2014/main" id="{32ABA47E-925E-4D7E-BE98-AFD9BFE7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Front width</a:t>
            </a:r>
          </a:p>
        </p:txBody>
      </p:sp>
      <p:sp>
        <p:nvSpPr>
          <p:cNvPr id="19" name="edge-row-2-l2">
            <a:extLst xmlns:a="http://schemas.openxmlformats.org/drawingml/2006/main">
              <a:ext uri="{FF2B5EF4-FFF2-40B4-BE49-F238E27FC236}">
                <a16:creationId xmlns:a16="http://schemas.microsoft.com/office/drawing/2014/main" id="{7DD46277-DAA2-4B9E-9211-EB07B96E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2.89 px</a:t>
            </a:r>
          </a:p>
        </p:txBody>
      </p:sp>
      <p:sp>
        <p:nvSpPr>
          <p:cNvPr id="20" name="edge-row-2-exp">
            <a:extLst xmlns:a="http://schemas.openxmlformats.org/drawingml/2006/main">
              <a:ext uri="{FF2B5EF4-FFF2-40B4-BE49-F238E27FC236}">
                <a16:creationId xmlns:a16="http://schemas.microsoft.com/office/drawing/2014/main" id="{61C10040-BCAE-4BFD-AE20-8BC8A776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242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1.16 px</a:t>
            </a:r>
          </a:p>
        </p:txBody>
      </p:sp>
      <p:sp>
        <p:nvSpPr>
          <p:cNvPr id="21" name="edge-row-3-label">
            <a:extLst xmlns:a="http://schemas.openxmlformats.org/drawingml/2006/main">
              <a:ext uri="{FF2B5EF4-FFF2-40B4-BE49-F238E27FC236}">
                <a16:creationId xmlns:a16="http://schemas.microsoft.com/office/drawing/2014/main" id="{4C23C8C8-F135-466E-BC62-90F9300E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High-k power ratio</a:t>
            </a:r>
          </a:p>
        </p:txBody>
      </p:sp>
      <p:sp>
        <p:nvSpPr>
          <p:cNvPr id="22" name="edge-row-3-l2">
            <a:extLst xmlns:a="http://schemas.openxmlformats.org/drawingml/2006/main">
              <a:ext uri="{FF2B5EF4-FFF2-40B4-BE49-F238E27FC236}">
                <a16:creationId xmlns:a16="http://schemas.microsoft.com/office/drawing/2014/main" id="{9D43ECDC-E5B9-444B-A154-882C7DE9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624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0.51</a:t>
            </a:r>
          </a:p>
        </p:txBody>
      </p:sp>
      <p:sp>
        <p:nvSpPr>
          <p:cNvPr id="23" name="edge-row-3-exp">
            <a:extLst xmlns:a="http://schemas.openxmlformats.org/drawingml/2006/main">
              <a:ext uri="{FF2B5EF4-FFF2-40B4-BE49-F238E27FC236}">
                <a16:creationId xmlns:a16="http://schemas.microsoft.com/office/drawing/2014/main" id="{2B37506F-76E9-4BD9-963B-5E448235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624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0.82</a:t>
            </a:r>
          </a:p>
        </p:txBody>
      </p:sp>
      <p:sp>
        <p:nvSpPr>
          <p:cNvPr id="24" name="edge-takeaway">
            <a:extLst xmlns:a="http://schemas.openxmlformats.org/drawingml/2006/main">
              <a:ext uri="{FF2B5EF4-FFF2-40B4-BE49-F238E27FC236}">
                <a16:creationId xmlns:a16="http://schemas.microsoft.com/office/drawing/2014/main" id="{FBAE1095-5304-4EB1-B32C-B1CE3416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5429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D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dge-takeaway-text">
            <a:extLst xmlns:a="http://schemas.openxmlformats.org/drawingml/2006/main">
              <a:ext uri="{FF2B5EF4-FFF2-40B4-BE49-F238E27FC236}">
                <a16:creationId xmlns:a16="http://schemas.microsoft.com/office/drawing/2014/main" id="{59E43D00-70B9-40ED-A21B-464ECF9E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006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No free lunch yet: truth-like edges cost ≈22% in global RMSE.</a:t>
            </a:r>
          </a:p>
        </p:txBody>
      </p:sp>
      <p:sp>
        <p:nvSpPr>
          <p:cNvPr id="26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FBC46E95-4DFD-4BAF-AAE7-DDEA6428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RESULTS • EDGES</a:t>
            </a:r>
          </a:p>
        </p:txBody>
      </p:sp>
      <p:sp>
        <p:nvSpPr>
          <p:cNvPr id="27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EEE0CFAF-5E06-4DEA-AF20-F65B932E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90021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03EA9A-CCD3-4F7B-91AD-DCF10672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Bubble scales drift even when topology looks right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69532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1ee36c7c0a404d"/>
          </a:graphicData>
        </a:graphic>
      </p:graphicFrame>
      <p:sp>
        <p:nvSpPr>
          <p:cNvPr id="3" name="bsd-callout-1">
            <a:extLst xmlns:a="http://schemas.openxmlformats.org/drawingml/2006/main">
              <a:ext uri="{FF2B5EF4-FFF2-40B4-BE49-F238E27FC236}">
                <a16:creationId xmlns:a16="http://schemas.microsoft.com/office/drawing/2014/main" id="{C2040048-56D7-49C6-98CF-12EC4F05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28750"/>
            <a:ext cx="4114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sd-callout-1-value">
            <a:extLst xmlns:a="http://schemas.openxmlformats.org/drawingml/2006/main">
              <a:ext uri="{FF2B5EF4-FFF2-40B4-BE49-F238E27FC236}">
                <a16:creationId xmlns:a16="http://schemas.microsoft.com/office/drawing/2014/main" id="{1A5585AE-8383-4FFE-BEEA-AFA09C87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6687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+9.3%</a:t>
            </a:r>
          </a:p>
        </p:txBody>
      </p:sp>
      <p:sp>
        <p:nvSpPr>
          <p:cNvPr id="5" name="bsd-callout-1-body">
            <a:extLst xmlns:a="http://schemas.openxmlformats.org/drawingml/2006/main">
              <a:ext uri="{FF2B5EF4-FFF2-40B4-BE49-F238E27FC236}">
                <a16:creationId xmlns:a16="http://schemas.microsoft.com/office/drawing/2014/main" id="{02F9BAEE-E800-4CAF-8714-C10152E4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9545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largest mean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scale bias</a:t>
            </a:r>
          </a:p>
        </p:txBody>
      </p:sp>
      <p:sp>
        <p:nvSpPr>
          <p:cNvPr id="6" name="bsd-callout-2">
            <a:extLst xmlns:a="http://schemas.openxmlformats.org/drawingml/2006/main">
              <a:ext uri="{FF2B5EF4-FFF2-40B4-BE49-F238E27FC236}">
                <a16:creationId xmlns:a16="http://schemas.microsoft.com/office/drawing/2014/main" id="{FE5E1295-106D-4ED7-ACA9-AB42F181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33700"/>
            <a:ext cx="4114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sd-callout-2-value">
            <a:extLst xmlns:a="http://schemas.openxmlformats.org/drawingml/2006/main">
              <a:ext uri="{FF2B5EF4-FFF2-40B4-BE49-F238E27FC236}">
                <a16:creationId xmlns:a16="http://schemas.microsoft.com/office/drawing/2014/main" id="{CBF59589-9665-4F7B-BFFA-53598854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718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≤ 0.017</a:t>
            </a:r>
          </a:p>
        </p:txBody>
      </p:sp>
      <p:sp>
        <p:nvSpPr>
          <p:cNvPr id="8" name="bsd-callout-2-body">
            <a:extLst xmlns:a="http://schemas.openxmlformats.org/drawingml/2006/main">
              <a:ext uri="{FF2B5EF4-FFF2-40B4-BE49-F238E27FC236}">
                <a16:creationId xmlns:a16="http://schemas.microsoft.com/office/drawing/2014/main" id="{13A0BB5D-F2D4-4403-BAE5-CA3FC017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1857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JS divergence: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distribution shape is close</a:t>
            </a:r>
          </a:p>
        </p:txBody>
      </p:sp>
      <p:sp>
        <p:nvSpPr>
          <p:cNvPr id="9" name="bsd-callout-3">
            <a:extLst xmlns:a="http://schemas.openxmlformats.org/drawingml/2006/main">
              <a:ext uri="{FF2B5EF4-FFF2-40B4-BE49-F238E27FC236}">
                <a16:creationId xmlns:a16="http://schemas.microsoft.com/office/drawing/2014/main" id="{0A5D4547-B611-4AD3-8526-7F850DC7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38650"/>
            <a:ext cx="4114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sd-callout-3-text">
            <a:extLst xmlns:a="http://schemas.openxmlformats.org/drawingml/2006/main">
              <a:ext uri="{FF2B5EF4-FFF2-40B4-BE49-F238E27FC236}">
                <a16:creationId xmlns:a16="http://schemas.microsoft.com/office/drawing/2014/main" id="{226873C6-AA6E-4DF1-BD96-C9BE0B27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9582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0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The topology can look right while its characteristic scale drifts.</a:t>
            </a:r>
          </a:p>
        </p:txBody>
      </p:sp>
      <p:sp>
        <p:nvSpPr>
          <p:cNvPr id="1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C9609ED9-2576-4064-A0E7-33059D35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RESULTS • MORPHOLOGY</a:t>
            </a:r>
          </a:p>
        </p:txBody>
      </p:sp>
      <p:sp>
        <p:nvSpPr>
          <p:cNvPr id="1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C887433A-5390-46CB-A09B-4C282E78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962666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4835DC-5408-4B5A-BCBE-CC7881B9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Next: optimize for inference—not voxel RMSE</a:t>
            </a:r>
          </a:p>
        </p:txBody>
      </p:sp>
      <p:cxnSp>
        <p:nvCxnSpPr>
          <p:cNvPr id="17" name="outlook-line"/>
          <p:cNvCxnSpPr/>
          <p:nvPr/>
        </p:nvCxnSpPr>
        <p:spPr>
          <a:xfrm xmlns:a="http://schemas.openxmlformats.org/drawingml/2006/main">
            <a:off x="342900" y="3333750"/>
            <a:ext cx="11430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0D12"/>
            </a:solidFill>
            <a:prstDash val="solid"/>
          </a:ln>
        </p:spPr>
      </p:cxnSp>
      <p:sp>
        <p:nvSpPr>
          <p:cNvPr id="3" name="outlook-dot-1">
            <a:extLst xmlns:a="http://schemas.openxmlformats.org/drawingml/2006/main">
              <a:ext uri="{FF2B5EF4-FFF2-40B4-BE49-F238E27FC236}">
                <a16:creationId xmlns:a16="http://schemas.microsoft.com/office/drawing/2014/main" id="{053D0CAB-22F9-444A-B972-96853C2C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utlook-dot-2">
            <a:extLst xmlns:a="http://schemas.openxmlformats.org/drawingml/2006/main">
              <a:ext uri="{FF2B5EF4-FFF2-40B4-BE49-F238E27FC236}">
                <a16:creationId xmlns:a16="http://schemas.microsoft.com/office/drawing/2014/main" id="{12CCAA2C-F050-4BE5-B1B8-41B7D013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look-dot-3">
            <a:extLst xmlns:a="http://schemas.openxmlformats.org/drawingml/2006/main">
              <a:ext uri="{FF2B5EF4-FFF2-40B4-BE49-F238E27FC236}">
                <a16:creationId xmlns:a16="http://schemas.microsoft.com/office/drawing/2014/main" id="{CE467600-EFDE-4B76-AB42-876BF180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utlook-label-1">
            <a:extLst xmlns:a="http://schemas.openxmlformats.org/drawingml/2006/main">
              <a:ext uri="{FF2B5EF4-FFF2-40B4-BE49-F238E27FC236}">
                <a16:creationId xmlns:a16="http://schemas.microsoft.com/office/drawing/2014/main" id="{50A6DD56-18EC-46D2-8C60-72DE68D6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336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3-D SHARPNESS</a:t>
            </a:r>
          </a:p>
        </p:txBody>
      </p:sp>
      <p:sp>
        <p:nvSpPr>
          <p:cNvPr id="7" name="outlook-label-2">
            <a:extLst xmlns:a="http://schemas.openxmlformats.org/drawingml/2006/main">
              <a:ext uri="{FF2B5EF4-FFF2-40B4-BE49-F238E27FC236}">
                <a16:creationId xmlns:a16="http://schemas.microsoft.com/office/drawing/2014/main" id="{26B9B398-AAD3-44A9-BD1C-6B7541AC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336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02  DATA FIDELITY</a:t>
            </a:r>
          </a:p>
        </p:txBody>
      </p:sp>
      <p:sp>
        <p:nvSpPr>
          <p:cNvPr id="8" name="outlook-label-3">
            <a:extLst xmlns:a="http://schemas.openxmlformats.org/drawingml/2006/main">
              <a:ext uri="{FF2B5EF4-FFF2-40B4-BE49-F238E27FC236}">
                <a16:creationId xmlns:a16="http://schemas.microsoft.com/office/drawing/2014/main" id="{AB678178-60D2-4DA8-827C-55E6ADA6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336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03  INFERENCE CRITERION</a:t>
            </a:r>
          </a:p>
        </p:txBody>
      </p:sp>
      <p:sp>
        <p:nvSpPr>
          <p:cNvPr id="9" name="outlook-body-1">
            <a:extLst xmlns:a="http://schemas.openxmlformats.org/drawingml/2006/main">
              <a:ext uri="{FF2B5EF4-FFF2-40B4-BE49-F238E27FC236}">
                <a16:creationId xmlns:a16="http://schemas.microsoft.com/office/drawing/2014/main" id="{15BA9CE8-5634-47BF-8D55-B12FC683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Run expwall in 3-D.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Re-check front width, high-k power, and BSD together—not as isolated metrics.</a:t>
            </a:r>
          </a:p>
        </p:txBody>
      </p:sp>
      <p:sp>
        <p:nvSpPr>
          <p:cNvPr id="10" name="outlook-body-2">
            <a:extLst xmlns:a="http://schemas.openxmlformats.org/drawingml/2006/main">
              <a:ext uri="{FF2B5EF4-FFF2-40B4-BE49-F238E27FC236}">
                <a16:creationId xmlns:a16="http://schemas.microsoft.com/office/drawing/2014/main" id="{99D9995C-E986-4D34-ADC4-A0848029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719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Rebuild the warped LOS cache and compare on a common physical grid with proper volume weighting.</a:t>
            </a:r>
          </a:p>
        </p:txBody>
      </p:sp>
      <p:sp>
        <p:nvSpPr>
          <p:cNvPr id="11" name="outlook-body-3">
            <a:extLst xmlns:a="http://schemas.openxmlformats.org/drawingml/2006/main">
              <a:ext uri="{FF2B5EF4-FFF2-40B4-BE49-F238E27FC236}">
                <a16:creationId xmlns:a16="http://schemas.microsoft.com/office/drawing/2014/main" id="{05B42EF5-D77B-4C22-8A32-6D7A57E5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719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Choose the operating point using SBI summaries and cross-simulator robustness—not voxel RMSE alone.</a:t>
            </a:r>
          </a:p>
        </p:txBody>
      </p:sp>
      <p:sp>
        <p:nvSpPr>
          <p:cNvPr id="12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7233F353-E978-4921-85B6-431D6E5E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76900"/>
            <a:ext cx="8572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ing-band-text">
            <a:extLst xmlns:a="http://schemas.openxmlformats.org/drawingml/2006/main">
              <a:ext uri="{FF2B5EF4-FFF2-40B4-BE49-F238E27FC236}">
                <a16:creationId xmlns:a16="http://schemas.microsoft.com/office/drawing/2014/main" id="{F14A5744-BBCA-4F58-B170-D23F0DE1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rPr>
              <a:t>Goal: a fast surrogate that is honest about morphology.</a:t>
            </a:r>
          </a:p>
        </p:txBody>
      </p:sp>
      <p:sp>
        <p:nvSpPr>
          <p:cNvPr id="14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7566F921-A962-43D7-B5E0-230D83D8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OUTLOOK</a:t>
            </a:r>
          </a:p>
        </p:txBody>
      </p:sp>
      <p:sp>
        <p:nvSpPr>
          <p:cNvPr id="15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2D408F5D-6F2B-4AEB-9B08-3AD0D9D8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454812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2026-08-16T01:13:29.0940000Z</dcterms:created>
  <dcterms:modified xsi:type="dcterms:W3CDTF">2026-08-16T01:13:29.0940000Z</dcterms:modified>
</coreProperties>
</file>