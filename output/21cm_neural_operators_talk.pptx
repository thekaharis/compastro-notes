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yourself. One sentence on the goal: we are building a fast, accurate surrogate that maps the matter density field to the neutral-hydrogen fraction during reionization, to be used inside simulation-based inference. The talk is about the journey through neural-operator architectures and what we learned about sharp ionization fronts.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~40s. The observable is the 21cm brightness temperature. In the saturated spin-temperature limit it factorizes: density and velocity terms are set by gravity, which all simulators share; the code-specific physics sits entirely in the neutral fraction x_HI. So if we can emulate x_HI faithfully, we have the science.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~35s. The neutral-fraction field is nearly binary, and the physics of interest is the sharp ionization fronts. A step edge needs all frequencies; a smooth truncated basis rings and blurs. Everything after this slide is a systematic attack on that single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~40s. The concrete task: given the matter density field and eleven parameters, predict the full 3-D neutral-fraction lightcone. Training data is 6600 21cmFAST lightcones. Right: a slice through one cone showing density, true x_HI, and a model prediction across redshift. The vertical axis is the line of sight; reionization runs from neutral at high z down to ionized at low 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~40s. We start from the FNO: a resolution-invariant operator that does a learned spectral convolution. It gets the global reionization history right but blurs the walls. Two negative results matter: adding more modes and adding a BCE regularizer both failed, which told us capacity was not the problem - the smooth Fourier basis itself was.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~35s. Rather than fight Fourier, we generalize the operator block so the basis is swappable. Two alternatives: Haar wavelets - local step functions - and the Walsh-Hadamard transform - global square waves. Walsh-Hadamard is the theoretically interesting one: step edges are sparse in it, and unlike wavelets it keeps global support.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~40s. The decisive breakthrough: the U-FNO adds a local U-Net path alongside the spectral path. Local convolution represents step functions without ringing. It broke the floor that looked information-bound, dropping L2 by 25% and H1 by 27%. The lesson: the bottleneck was the basis, not the inputs or the loss.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~40s. We instrumented the spectral layers to measure where the weight lives. The U-FNO visibly collapses onto low modes. The SIREN hypernetwork - which generates the kernel for every mode - removes that bias entirely, keeping the spectrum flat, and beats the plain FNO. But it does not beat the U-FNO, plausibly because it has no local U-Net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~35s. We unify everything in one skeleton with two operator slots: windowed local branches and a global whole-field bottleneck. Any transform can fill either slot. This gives controlled comparisons, and the local models end up 20 to 60 times smaller than the U-FNO at better accuracy - critical for a model that will be called inside an inference loop.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~40s. The clean 2-D ranking. Walsh-Hadamard in the global slot is the new leader, beating plain LocalFNO, and every local model beats the U-FNO while being 20 to 60 times smaller. Two structural results: which slot gets the non-Fourier operator matters more than which basis it is; and the U-FNO generalizes worst.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~40s. On the z_re task the headline is that SIREN-generated weights turn the LocalFNO from the worst model into the second-best, beating the U-FNO by 18% with 54 times fewer parameters. Also: pure L2 beats L2+H1 by roughly 35% for every architecture - the H1 term was actively harmful.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~45s. The reason all the basis-side attacks never fixed the walls: a pointwise squared loss actively prefers a blurred front. The constructive fix is an exponential absolute error - it reaches truth-like front width for the first time. On morphology: the best U-FNO makes bubbles too large early on, the signature of soft walls.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~45s. Putting it together: sharpness and L2 accuracy are in tension. We can have per-pixel accuracy or truth-like fronts, not both simultaneously - at least not yet. The thesis now has to pick a point on this frontier explicitly, and for inference on summary statistics the sharp end is likely the right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~40s. Four concrete next steps. expwall in 3-D is the top priority. The LOS grid is a data-side fix that should arguably have come first. And the diagnostic shows the line-of-sight axis is where bandwidth is actually tight in 3-D.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~30s. Wrap up: the point of the surrogate is inference. P1 characterizes the EFT coefficients across simulators; P2 uses them as inference targets to beat simulator dependence. The emulator feeds that pipeline, and the frontier we just measured tells us which accuracy regime to buy.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24528"/>
            <a:ext cx="12191695" cy="54864"/>
          </a:xfrm>
          <a:prstGeom prst="rect">
            <a:avLst/>
          </a:prstGeom>
          <a:solidFill>
            <a:srgbClr val="4F6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4F6DF5"/>
                </a:solidFill>
                <a:latin typeface="Arial"/>
              </a:rPr>
              <a:t>MASTER'S THESIS  ·  WORK IN PROGRESS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5156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4000" b="1" i="0">
                <a:solidFill>
                  <a:srgbClr val="FFFFFF"/>
                </a:solidFill>
                <a:latin typeface="Arial"/>
              </a:rPr>
              <a:t>Neural Operator Architectures for the 21 cm Reionization Field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0632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C8CDE8"/>
                </a:solidFill>
                <a:latin typeface="Arial"/>
              </a:rPr>
              <a:t>Fourier and beyond — a surrogate for the density → neutral-fraction 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43484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9AA0C0"/>
                </a:solidFill>
                <a:latin typeface="Arial"/>
              </a:rPr>
              <a:t>Haris  ·  Computational Astrophysics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8463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7A80A0"/>
                </a:solidFill>
                <a:latin typeface="Arial"/>
              </a:rPr>
              <a:t>21cmFAST lightcones  ·  FNO / U-FNO / SIREN / Walsh–Hadamard  ·  Aug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4F6DF5"/>
                </a:solidFill>
                <a:latin typeface="Arial"/>
              </a:rPr>
              <a:t>1 · THEORY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A1C33"/>
                </a:solidFill>
                <a:latin typeface="Arial"/>
              </a:rPr>
              <a:t>The 21 cm signal and the neutral fraction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07008"/>
            <a:ext cx="1280160" cy="41148"/>
          </a:xfrm>
          <a:prstGeom prst="rect">
            <a:avLst/>
          </a:prstGeom>
          <a:solidFill>
            <a:srgbClr val="4F6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81328"/>
            <a:ext cx="11064240" cy="484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700" b="1" i="0">
                <a:solidFill>
                  <a:srgbClr val="4F6DF5"/>
                </a:solidFill>
                <a:latin typeface="Arial"/>
              </a:rPr>
              <a:t>▪ </a:t>
            </a:r>
            <a:r>
              <a:rPr sz="1700" b="1" i="0">
                <a:solidFill>
                  <a:srgbClr val="1A1C33"/>
                </a:solidFill>
                <a:latin typeface="Arial"/>
              </a:rPr>
              <a:t>The 21 cm line</a:t>
            </a:r>
            <a:r>
              <a:rPr sz="1700" b="0" i="0">
                <a:solidFill>
                  <a:srgbClr val="1A1C33"/>
                </a:solidFill>
                <a:latin typeface="Arial"/>
              </a:rPr>
              <a:t> is a hyperfine spin-flip of neutral hydrogen (ν₀ = 1420.4 MHz), redshifted to ≈50–250 MHz at z = 6–30 — the HERA / SKA-Low band.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700" b="1" i="0">
                <a:solidFill>
                  <a:srgbClr val="4F6DF5"/>
                </a:solidFill>
                <a:latin typeface="Arial"/>
              </a:rPr>
              <a:t>▪ </a:t>
            </a:r>
            <a:r>
              <a:rPr sz="1700" b="0" i="0">
                <a:solidFill>
                  <a:srgbClr val="1A1C33"/>
                </a:solidFill>
                <a:latin typeface="Arial"/>
              </a:rPr>
              <a:t>Observed as a </a:t>
            </a:r>
            <a:r>
              <a:rPr sz="1700" b="1" i="0">
                <a:solidFill>
                  <a:srgbClr val="1A1C33"/>
                </a:solidFill>
                <a:latin typeface="Arial"/>
              </a:rPr>
              <a:t>differential brightness temperature</a:t>
            </a:r>
            <a:r>
              <a:rPr sz="1700" b="0" i="0">
                <a:solidFill>
                  <a:srgbClr val="1A1C33"/>
                </a:solidFill>
                <a:latin typeface="Arial"/>
              </a:rPr>
              <a:t> against the CMB. In the saturated spin-temperature limit: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880360"/>
            <a:ext cx="10515600" cy="1234440"/>
          </a:xfrm>
          <a:prstGeom prst="roundRect">
            <a:avLst>
              <a:gd name="adj" fmla="val 3500"/>
            </a:avLst>
          </a:prstGeom>
          <a:solidFill>
            <a:srgbClr val="EE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3127248"/>
            <a:ext cx="9875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1A1C33"/>
                </a:solidFill>
                <a:latin typeface="Arial"/>
              </a:rPr>
              <a:t>δTₖ(x, z)  ≈  27 mK · [Ωb, Ωm, z factors]  ·  x_HI(x, z)  ·  [ 1 + δ_m(x, z)  −  ∂∥ v∥ / (aH)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315968"/>
            <a:ext cx="1106424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600" b="1" i="0">
                <a:solidFill>
                  <a:srgbClr val="4F6DF5"/>
                </a:solidFill>
                <a:latin typeface="Arial"/>
              </a:rPr>
              <a:t>▪ </a:t>
            </a:r>
            <a:r>
              <a:rPr sz="1600" b="1" i="0">
                <a:solidFill>
                  <a:srgbClr val="1A1C33"/>
                </a:solidFill>
                <a:latin typeface="Arial"/>
              </a:rPr>
              <a:t>Gravity</a:t>
            </a:r>
            <a:r>
              <a:rPr sz="1600" b="0" i="0">
                <a:solidFill>
                  <a:srgbClr val="1A1C33"/>
                </a:solidFill>
                <a:latin typeface="Arial"/>
              </a:rPr>
              <a:t> (density δ_m and the RSD velocity term) is shared across simulators — the physics we care about lives </a:t>
            </a:r>
            <a:r>
              <a:rPr sz="1600" b="1" i="0">
                <a:solidFill>
                  <a:srgbClr val="1A1C33"/>
                </a:solidFill>
                <a:latin typeface="Arial"/>
              </a:rPr>
              <a:t>entirely in x_HI</a:t>
            </a:r>
            <a:r>
              <a:rPr sz="1600" b="0" i="0">
                <a:solidFill>
                  <a:srgbClr val="1A1C33"/>
                </a:solidFill>
                <a:latin typeface="Arial"/>
              </a:rPr>
              <a:t>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600" b="1" i="0">
                <a:solidFill>
                  <a:srgbClr val="4F6DF5"/>
                </a:solidFill>
                <a:latin typeface="Arial"/>
              </a:rPr>
              <a:t>▪ </a:t>
            </a:r>
            <a:r>
              <a:rPr sz="1600" b="0" i="0">
                <a:solidFill>
                  <a:srgbClr val="1A1C33"/>
                </a:solidFill>
                <a:latin typeface="Arial"/>
              </a:rPr>
              <a:t>Signal is </a:t>
            </a:r>
            <a:r>
              <a:rPr sz="1600" b="1" i="0">
                <a:solidFill>
                  <a:srgbClr val="1A1C33"/>
                </a:solidFill>
                <a:latin typeface="Arial"/>
              </a:rPr>
              <a:t>~10–100 mK</a:t>
            </a:r>
            <a:r>
              <a:rPr sz="1600" b="0" i="0">
                <a:solidFill>
                  <a:srgbClr val="1A1C33"/>
                </a:solidFill>
                <a:latin typeface="Arial"/>
              </a:rPr>
              <a:t>, while foregrounds are 10⁴–10⁵× brighter → foregrounds occupy a “wedge” in (k⊥, k∥); the clean “EoR window” survives.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6F8A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4F6DF5"/>
                </a:solidFill>
                <a:latin typeface="Arial"/>
              </a:rPr>
              <a:t>1 · THEORY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A1C33"/>
                </a:solidFill>
                <a:latin typeface="Arial"/>
              </a:rPr>
              <a:t>x_HI is a near-binary field with sharp fronts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07008"/>
            <a:ext cx="1280160" cy="41148"/>
          </a:xfrm>
          <a:prstGeom prst="rect">
            <a:avLst/>
          </a:prstGeom>
          <a:solidFill>
            <a:srgbClr val="4F6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81328"/>
            <a:ext cx="11064240" cy="502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700" b="1" i="0">
                <a:solidFill>
                  <a:srgbClr val="4F6DF5"/>
                </a:solidFill>
                <a:latin typeface="Arial"/>
              </a:rPr>
              <a:t>▪ </a:t>
            </a:r>
            <a:r>
              <a:rPr sz="1700" b="1" i="0">
                <a:solidFill>
                  <a:srgbClr val="1A1C33"/>
                </a:solidFill>
                <a:latin typeface="Arial"/>
              </a:rPr>
              <a:t>Reionization is inside-out</a:t>
            </a:r>
            <a:r>
              <a:rPr sz="1700" b="0" i="0">
                <a:solidFill>
                  <a:srgbClr val="1A1C33"/>
                </a:solidFill>
                <a:latin typeface="Arial"/>
              </a:rPr>
              <a:t>: ionized bubbles grow around clustered sources, percolate around ≈50% ionization (z ≈ 7–10), and complete by z ≲ 6.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700" b="1" i="0">
                <a:solidFill>
                  <a:srgbClr val="4F6DF5"/>
                </a:solidFill>
                <a:latin typeface="Arial"/>
              </a:rPr>
              <a:t>▪ </a:t>
            </a:r>
            <a:r>
              <a:rPr sz="1700" b="0" i="0">
                <a:solidFill>
                  <a:srgbClr val="1A1C33"/>
                </a:solidFill>
                <a:latin typeface="Arial"/>
              </a:rPr>
              <a:t>At the voxel level the field is </a:t>
            </a:r>
            <a:r>
              <a:rPr sz="1700" b="1" i="0">
                <a:solidFill>
                  <a:srgbClr val="1A1C33"/>
                </a:solidFill>
                <a:latin typeface="Arial"/>
              </a:rPr>
              <a:t>nearly binary</a:t>
            </a:r>
            <a:r>
              <a:rPr sz="1700" b="0" i="0">
                <a:solidFill>
                  <a:srgbClr val="1A1C33"/>
                </a:solidFill>
                <a:latin typeface="Arial"/>
              </a:rPr>
              <a:t> — mostly fully ionized (x_HI = 0) or fully neutral (x_HI = 1).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700" b="1" i="0">
                <a:solidFill>
                  <a:srgbClr val="4F6DF5"/>
                </a:solidFill>
                <a:latin typeface="Arial"/>
              </a:rPr>
              <a:t>▪ </a:t>
            </a:r>
            <a:r>
              <a:rPr sz="1700" b="0" i="0">
                <a:solidFill>
                  <a:srgbClr val="1A1C33"/>
                </a:solidFill>
                <a:latin typeface="Arial"/>
              </a:rPr>
              <a:t>The action is at the </a:t>
            </a:r>
            <a:r>
              <a:rPr sz="1700" b="1" i="0">
                <a:solidFill>
                  <a:srgbClr val="1A1C33"/>
                </a:solidFill>
                <a:latin typeface="Arial"/>
              </a:rPr>
              <a:t>ionization fronts</a:t>
            </a:r>
            <a:r>
              <a:rPr sz="1700" b="0" i="0">
                <a:solidFill>
                  <a:srgbClr val="1A1C33"/>
                </a:solidFill>
                <a:latin typeface="Arial"/>
              </a:rPr>
              <a:t>: step edges ≈ 1 px / ≈3.6 Mpc wide in truth, where x_HI jumps discontinuously.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700" b="1" i="0">
                <a:solidFill>
                  <a:srgbClr val="4F6DF5"/>
                </a:solidFill>
                <a:latin typeface="Arial"/>
              </a:rPr>
              <a:t>▪ </a:t>
            </a:r>
            <a:r>
              <a:rPr sz="1700" b="1" i="0">
                <a:solidFill>
                  <a:srgbClr val="1A1C33"/>
                </a:solidFill>
                <a:latin typeface="Arial"/>
              </a:rPr>
              <a:t>Why this is hard for spectral models</a:t>
            </a:r>
            <a:r>
              <a:rPr sz="1700" b="0" i="0">
                <a:solidFill>
                  <a:srgbClr val="1A1C33"/>
                </a:solidFill>
                <a:latin typeface="Arial"/>
              </a:rPr>
              <a:t>: a step edge has power at every frequency — any truncation of a smooth basis rings (Gibbs) and blurs the wall.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700" b="1" i="0">
                <a:solidFill>
                  <a:srgbClr val="4F6DF5"/>
                </a:solidFill>
                <a:latin typeface="Arial"/>
              </a:rPr>
              <a:t>▪ </a:t>
            </a:r>
            <a:r>
              <a:rPr sz="1700" b="0" i="0">
                <a:solidFill>
                  <a:srgbClr val="1A1C33"/>
                </a:solidFill>
                <a:latin typeface="Arial"/>
              </a:rPr>
              <a:t>This one fact — </a:t>
            </a:r>
            <a:r>
              <a:rPr sz="1700" b="0" i="1">
                <a:solidFill>
                  <a:srgbClr val="1A1C33"/>
                </a:solidFill>
                <a:latin typeface="Arial"/>
              </a:rPr>
              <a:t>sharp walls in a smooth global basis</a:t>
            </a:r>
            <a:r>
              <a:rPr sz="1700" b="0" i="0">
                <a:solidFill>
                  <a:srgbClr val="1A1C33"/>
                </a:solidFill>
                <a:latin typeface="Arial"/>
              </a:rPr>
              <a:t> — drives the entire architecture search that follows.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6F8A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4F6DF5"/>
                </a:solidFill>
                <a:latin typeface="Arial"/>
              </a:rPr>
              <a:t>1 · THEORY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A1C33"/>
                </a:solidFill>
                <a:latin typeface="Arial"/>
              </a:rPr>
              <a:t>Ground-truth data and the learning task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07008"/>
            <a:ext cx="1280160" cy="41148"/>
          </a:xfrm>
          <a:prstGeom prst="rect">
            <a:avLst/>
          </a:prstGeom>
          <a:solidFill>
            <a:srgbClr val="4F6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81328"/>
            <a:ext cx="6675120" cy="502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600" b="1" i="0">
                <a:solidFill>
                  <a:srgbClr val="4F6DF5"/>
                </a:solidFill>
                <a:latin typeface="Arial"/>
              </a:rPr>
              <a:t>▪ </a:t>
            </a:r>
            <a:r>
              <a:rPr sz="1600" b="1" i="0">
                <a:solidFill>
                  <a:srgbClr val="1A1C33"/>
                </a:solidFill>
                <a:latin typeface="Arial"/>
              </a:rPr>
              <a:t>Task</a:t>
            </a:r>
            <a:r>
              <a:rPr sz="1600" b="0" i="0">
                <a:solidFill>
                  <a:srgbClr val="1A1C33"/>
                </a:solidFill>
                <a:latin typeface="Arial"/>
              </a:rPr>
              <a:t>: learn the operator  G : δ_m(x, z) ⟶ x_HI(x, z),  conditioned on </a:t>
            </a:r>
            <a:r>
              <a:rPr sz="1600" b="1" i="0">
                <a:solidFill>
                  <a:srgbClr val="1A1C33"/>
                </a:solidFill>
                <a:latin typeface="Arial"/>
              </a:rPr>
              <a:t>11 astrophysical + cosmological parameters</a:t>
            </a:r>
            <a:r>
              <a:rPr sz="1600" b="0" i="0">
                <a:solidFill>
                  <a:srgbClr val="1A1C33"/>
                </a:solidFill>
                <a:latin typeface="Arial"/>
              </a:rPr>
              <a:t>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600" b="1" i="0">
                <a:solidFill>
                  <a:srgbClr val="4F6DF5"/>
                </a:solidFill>
                <a:latin typeface="Arial"/>
              </a:rPr>
              <a:t>▪ </a:t>
            </a:r>
            <a:r>
              <a:rPr sz="1600" b="1" i="0">
                <a:solidFill>
                  <a:srgbClr val="1A1C33"/>
                </a:solidFill>
                <a:latin typeface="Arial"/>
              </a:rPr>
              <a:t>Source</a:t>
            </a:r>
            <a:r>
              <a:rPr sz="1600" b="0" i="0">
                <a:solidFill>
                  <a:srgbClr val="1A1C33"/>
                </a:solidFill>
                <a:latin typeface="Arial"/>
              </a:rPr>
              <a:t>: 21cmFAST semi-numerical lightcones.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600" b="1" i="0">
                <a:solidFill>
                  <a:srgbClr val="4F6DF5"/>
                </a:solidFill>
                <a:latin typeface="Arial"/>
              </a:rPr>
              <a:t>▪ </a:t>
            </a:r>
            <a:r>
              <a:rPr sz="1600" b="1" i="0">
                <a:solidFill>
                  <a:srgbClr val="1A1C33"/>
                </a:solidFill>
                <a:latin typeface="Arial"/>
              </a:rPr>
              <a:t>Cube geometry</a:t>
            </a:r>
            <a:r>
              <a:rPr sz="1600" b="0" i="0">
                <a:solidFill>
                  <a:srgbClr val="1A1C33"/>
                </a:solidFill>
                <a:latin typeface="Arial"/>
              </a:rPr>
              <a:t>: 140×140×256, z = 5→25, ≈200 Mpc transverse · ≈3340 Mpc line of sight.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600" b="1" i="0">
                <a:solidFill>
                  <a:srgbClr val="4F6DF5"/>
                </a:solidFill>
                <a:latin typeface="Arial"/>
              </a:rPr>
              <a:t>▪ </a:t>
            </a:r>
            <a:r>
              <a:rPr sz="1600" b="1" i="0">
                <a:solidFill>
                  <a:srgbClr val="1A1C33"/>
                </a:solidFill>
                <a:latin typeface="Arial"/>
              </a:rPr>
              <a:t>Data</a:t>
            </a:r>
            <a:r>
              <a:rPr sz="1600" b="0" i="0">
                <a:solidFill>
                  <a:srgbClr val="1A1C33"/>
                </a:solidFill>
                <a:latin typeface="Arial"/>
              </a:rPr>
              <a:t>: 6600 cones (80/10/10 split, seed 42).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600" b="1" i="0">
                <a:solidFill>
                  <a:srgbClr val="4F6DF5"/>
                </a:solidFill>
                <a:latin typeface="Arial"/>
              </a:rPr>
              <a:t>▪ </a:t>
            </a:r>
            <a:r>
              <a:rPr sz="1600" b="1" i="0">
                <a:solidFill>
                  <a:srgbClr val="1A1C33"/>
                </a:solidFill>
                <a:latin typeface="Arial"/>
              </a:rPr>
              <a:t>Metrics</a:t>
            </a:r>
            <a:r>
              <a:rPr sz="1600" b="0" i="0">
                <a:solidFill>
                  <a:srgbClr val="1A1C33"/>
                </a:solidFill>
                <a:latin typeface="Arial"/>
              </a:rPr>
              <a:t>: L² and H¹ error, power spectra, bubble-size distribution — not just RMSE.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600" b="1" i="0">
                <a:solidFill>
                  <a:srgbClr val="4F6DF5"/>
                </a:solidFill>
                <a:latin typeface="Arial"/>
              </a:rPr>
              <a:t>▪ </a:t>
            </a:r>
            <a:r>
              <a:rPr sz="1600" b="1" i="0">
                <a:solidFill>
                  <a:srgbClr val="1A1C33"/>
                </a:solidFill>
                <a:latin typeface="Arial"/>
              </a:rPr>
              <a:t>Use</a:t>
            </a:r>
            <a:r>
              <a:rPr sz="1600" b="0" i="0">
                <a:solidFill>
                  <a:srgbClr val="1A1C33"/>
                </a:solidFill>
                <a:latin typeface="Arial"/>
              </a:rPr>
              <a:t>: fast forward model for simulation-based inference (P2).</a:t>
            </a:r>
          </a:p>
        </p:txBody>
      </p:sp>
      <p:pic>
        <p:nvPicPr>
          <p:cNvPr id="6" name="Picture 5" descr="comparison_3d_test_con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9885" y="1417320"/>
            <a:ext cx="2659749" cy="4846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247120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6F8A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4F6DF5"/>
                </a:solidFill>
                <a:latin typeface="Arial"/>
              </a:rPr>
              <a:t>2 · MODEL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A1C33"/>
                </a:solidFill>
                <a:latin typeface="Arial"/>
              </a:rPr>
              <a:t>Step 1 — neural operators and the FNO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07008"/>
            <a:ext cx="1280160" cy="41148"/>
          </a:xfrm>
          <a:prstGeom prst="rect">
            <a:avLst/>
          </a:prstGeom>
          <a:solidFill>
            <a:srgbClr val="4F6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81328"/>
            <a:ext cx="1106424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600" b="1" i="0">
                <a:solidFill>
                  <a:srgbClr val="4F6DF5"/>
                </a:solidFill>
                <a:latin typeface="Arial"/>
              </a:rPr>
              <a:t>▪ </a:t>
            </a:r>
            <a:r>
              <a:rPr sz="1600" b="0" i="0">
                <a:solidFill>
                  <a:srgbClr val="1A1C33"/>
                </a:solidFill>
                <a:latin typeface="Arial"/>
              </a:rPr>
              <a:t>A </a:t>
            </a:r>
            <a:r>
              <a:rPr sz="1600" b="1" i="0">
                <a:solidFill>
                  <a:srgbClr val="1A1C33"/>
                </a:solidFill>
                <a:latin typeface="Arial"/>
              </a:rPr>
              <a:t>neural operator</a:t>
            </a:r>
            <a:r>
              <a:rPr sz="1600" b="0" i="0">
                <a:solidFill>
                  <a:srgbClr val="1A1C33"/>
                </a:solidFill>
                <a:latin typeface="Arial"/>
              </a:rPr>
              <a:t> learns a map between function spaces (not vectors) → </a:t>
            </a:r>
            <a:r>
              <a:rPr sz="1600" b="1" i="0">
                <a:solidFill>
                  <a:srgbClr val="1A1C33"/>
                </a:solidFill>
                <a:latin typeface="Arial"/>
              </a:rPr>
              <a:t>resolution-invariant</a:t>
            </a:r>
            <a:r>
              <a:rPr sz="1600" b="0" i="0">
                <a:solidFill>
                  <a:srgbClr val="1A1C33"/>
                </a:solidFill>
                <a:latin typeface="Arial"/>
              </a:rPr>
              <a:t>; retrain-free across grid sizes.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600" b="1" i="0">
                <a:solidFill>
                  <a:srgbClr val="4F6DF5"/>
                </a:solidFill>
                <a:latin typeface="Arial"/>
              </a:rPr>
              <a:t>▪ </a:t>
            </a:r>
            <a:r>
              <a:rPr sz="1600" b="1" i="0">
                <a:solidFill>
                  <a:srgbClr val="1A1C33"/>
                </a:solidFill>
                <a:latin typeface="Arial"/>
              </a:rPr>
              <a:t>FNO layer</a:t>
            </a:r>
            <a:r>
              <a:rPr sz="1600" b="0" i="0">
                <a:solidFill>
                  <a:srgbClr val="1A1C33"/>
                </a:solidFill>
                <a:latin typeface="Arial"/>
              </a:rPr>
              <a:t>:  v′ = σ( W·v  +  F⁻¹[ R(k) · F[v] ] )  — a learned spectral filter in Fourier space.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600" b="1" i="0">
                <a:solidFill>
                  <a:srgbClr val="4F6DF5"/>
                </a:solidFill>
                <a:latin typeface="Arial"/>
              </a:rPr>
              <a:t>▪ </a:t>
            </a:r>
            <a:r>
              <a:rPr sz="1600" b="0" i="0">
                <a:solidFill>
                  <a:srgbClr val="1A1C33"/>
                </a:solidFill>
                <a:latin typeface="Arial"/>
              </a:rPr>
              <a:t>Global receptive field at O(N log N) via FFT; the Green's-function view of physics makes it natural for PDE-like maps.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600" b="1" i="0">
                <a:solidFill>
                  <a:srgbClr val="4F6DF5"/>
                </a:solidFill>
                <a:latin typeface="Arial"/>
              </a:rPr>
              <a:t>▪ </a:t>
            </a:r>
            <a:r>
              <a:rPr sz="1600" b="1" i="0">
                <a:solidFill>
                  <a:srgbClr val="1A1C33"/>
                </a:solidFill>
                <a:latin typeface="Arial"/>
              </a:rPr>
              <a:t>The catch</a:t>
            </a:r>
            <a:r>
              <a:rPr sz="1600" b="0" i="0">
                <a:solidFill>
                  <a:srgbClr val="1A1C33"/>
                </a:solidFill>
                <a:latin typeface="Arial"/>
              </a:rPr>
              <a:t>: keep only N_modes lowest modes + smooth sinusoidal basis → step-like bubble walls ring and blur.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4709160"/>
            <a:ext cx="11064240" cy="1554480"/>
          </a:xfrm>
          <a:prstGeom prst="roundRect">
            <a:avLst>
              <a:gd name="adj" fmla="val 3500"/>
            </a:avLst>
          </a:prstGeom>
          <a:solidFill>
            <a:srgbClr val="FB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846320"/>
            <a:ext cx="106070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500" b="1" i="0">
                <a:solidFill>
                  <a:srgbClr val="4F6DF5"/>
                </a:solidFill>
                <a:latin typeface="Arial"/>
              </a:rPr>
              <a:t>▪ </a:t>
            </a:r>
            <a:r>
              <a:rPr sz="1500" b="1" i="0">
                <a:solidFill>
                  <a:srgbClr val="1A1C33"/>
                </a:solidFill>
                <a:latin typeface="Arial"/>
              </a:rPr>
              <a:t>First result, pure FNO</a:t>
            </a:r>
            <a:r>
              <a:rPr sz="1500" b="0" i="0">
                <a:solidFill>
                  <a:srgbClr val="1A1C33"/>
                </a:solidFill>
                <a:latin typeface="Arial"/>
              </a:rPr>
              <a:t>: after adding parameter conditioning, val L² = 0.056, val H¹ = 11.4 — correct timing &amp; location, but </a:t>
            </a:r>
            <a:r>
              <a:rPr sz="1500" b="1" i="0">
                <a:solidFill>
                  <a:srgbClr val="1A1C33"/>
                </a:solidFill>
                <a:latin typeface="Arial"/>
              </a:rPr>
              <a:t>walls too smooth</a:t>
            </a:r>
            <a:r>
              <a:rPr sz="1500" b="0" i="0">
                <a:solidFill>
                  <a:srgbClr val="1A1C33"/>
                </a:solidFill>
                <a:latin typeface="Arial"/>
              </a:rPr>
              <a:t>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400" b="0" i="0">
                <a:solidFill>
                  <a:srgbClr val="6B6F8A"/>
                </a:solidFill>
                <a:latin typeface="Arial"/>
              </a:rPr>
              <a:t>–  </a:t>
            </a:r>
            <a:r>
              <a:rPr sz="1400" b="0" i="0">
                <a:solidFill>
                  <a:srgbClr val="3A3E5C"/>
                </a:solidFill>
                <a:latin typeface="Arial"/>
              </a:rPr>
              <a:t>More modes → no change. BCE → no change. Capacity was not the bottleneck; the </a:t>
            </a:r>
            <a:r>
              <a:rPr sz="1400" b="0" i="1">
                <a:solidFill>
                  <a:srgbClr val="3A3E5C"/>
                </a:solidFill>
                <a:latin typeface="Arial"/>
              </a:rPr>
              <a:t>basis</a:t>
            </a:r>
            <a:r>
              <a:rPr sz="1400" b="0" i="0">
                <a:solidFill>
                  <a:srgbClr val="3A3E5C"/>
                </a:solidFill>
                <a:latin typeface="Arial"/>
              </a:rPr>
              <a:t> was.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6F8A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4F6DF5"/>
                </a:solidFill>
                <a:latin typeface="Arial"/>
              </a:rPr>
              <a:t>2 · MODEL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A1C33"/>
                </a:solidFill>
                <a:latin typeface="Arial"/>
              </a:rPr>
              <a:t>Step 2 — swapping the basis: Wavelet &amp; Walsh–Hadamard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07008"/>
            <a:ext cx="1280160" cy="41148"/>
          </a:xfrm>
          <a:prstGeom prst="rect">
            <a:avLst/>
          </a:prstGeom>
          <a:solidFill>
            <a:srgbClr val="4F6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81328"/>
            <a:ext cx="11064240" cy="502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600" b="1" i="0">
                <a:solidFill>
                  <a:srgbClr val="4F6DF5"/>
                </a:solidFill>
                <a:latin typeface="Arial"/>
              </a:rPr>
              <a:t>▪ </a:t>
            </a:r>
            <a:r>
              <a:rPr sz="1600" b="1" i="0">
                <a:solidFill>
                  <a:srgbClr val="1A1C33"/>
                </a:solidFill>
                <a:latin typeface="Arial"/>
              </a:rPr>
              <a:t>Key insight</a:t>
            </a:r>
            <a:r>
              <a:rPr sz="1600" b="0" i="0">
                <a:solidFill>
                  <a:srgbClr val="1A1C33"/>
                </a:solidFill>
                <a:latin typeface="Arial"/>
              </a:rPr>
              <a:t>: the transform in the operator block is just a </a:t>
            </a:r>
            <a:r>
              <a:rPr sz="1600" b="1" i="0">
                <a:solidFill>
                  <a:srgbClr val="1A1C33"/>
                </a:solidFill>
                <a:latin typeface="Arial"/>
              </a:rPr>
              <a:t>slot</a:t>
            </a:r>
            <a:r>
              <a:rPr sz="1600" b="0" i="0">
                <a:solidFill>
                  <a:srgbClr val="1A1C33"/>
                </a:solidFill>
                <a:latin typeface="Arial"/>
              </a:rPr>
              <a:t> —  transform → learned per-coefficient weight → inverse transform  works for any fast orthogonal transform.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600" b="1" i="0">
                <a:solidFill>
                  <a:srgbClr val="4F6DF5"/>
                </a:solidFill>
                <a:latin typeface="Arial"/>
              </a:rPr>
              <a:t>▪ </a:t>
            </a:r>
            <a:r>
              <a:rPr sz="1600" b="1" i="0">
                <a:solidFill>
                  <a:srgbClr val="1A1C33"/>
                </a:solidFill>
                <a:latin typeface="Arial"/>
              </a:rPr>
              <a:t>Wavelet (Haar)</a:t>
            </a:r>
            <a:r>
              <a:rPr sz="1600" b="0" i="0">
                <a:solidFill>
                  <a:srgbClr val="1A1C33"/>
                </a:solidFill>
                <a:latin typeface="Arial"/>
              </a:rPr>
              <a:t>: local, </a:t>
            </a:r>
            <a:r>
              <a:rPr sz="1600" b="0" i="1">
                <a:solidFill>
                  <a:srgbClr val="1A1C33"/>
                </a:solidFill>
                <a:latin typeface="Arial"/>
              </a:rPr>
              <a:t>step-shaped</a:t>
            </a:r>
            <a:r>
              <a:rPr sz="1600" b="0" i="0">
                <a:solidFill>
                  <a:srgbClr val="1A1C33"/>
                </a:solidFill>
                <a:latin typeface="Arial"/>
              </a:rPr>
              <a:t> atoms → a bubble wall is sparse (no Gibbs).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600" b="1" i="0">
                <a:solidFill>
                  <a:srgbClr val="4F6DF5"/>
                </a:solidFill>
                <a:latin typeface="Arial"/>
              </a:rPr>
              <a:t>▪ </a:t>
            </a:r>
            <a:r>
              <a:rPr sz="1600" b="1" i="0">
                <a:solidFill>
                  <a:srgbClr val="1A1C33"/>
                </a:solidFill>
                <a:latin typeface="Arial"/>
              </a:rPr>
              <a:t>Walsh–Hadamard</a:t>
            </a:r>
            <a:r>
              <a:rPr sz="1600" b="0" i="0">
                <a:solidFill>
                  <a:srgbClr val="1A1C33"/>
                </a:solidFill>
                <a:latin typeface="Arial"/>
              </a:rPr>
              <a:t>: global, </a:t>
            </a:r>
            <a:r>
              <a:rPr sz="1600" b="0" i="1">
                <a:solidFill>
                  <a:srgbClr val="1A1C33"/>
                </a:solidFill>
                <a:latin typeface="Arial"/>
              </a:rPr>
              <a:t>square-wave</a:t>
            </a:r>
            <a:r>
              <a:rPr sz="1600" b="0" i="0">
                <a:solidFill>
                  <a:srgbClr val="1A1C33"/>
                </a:solidFill>
                <a:latin typeface="Arial"/>
              </a:rPr>
              <a:t> basis — step edges are sparse </a:t>
            </a:r>
            <a:r>
              <a:rPr sz="1600" b="1" i="0">
                <a:solidFill>
                  <a:srgbClr val="1A1C33"/>
                </a:solidFill>
                <a:latin typeface="Arial"/>
              </a:rPr>
              <a:t>and</a:t>
            </a:r>
            <a:r>
              <a:rPr sz="1600" b="0" i="0">
                <a:solidFill>
                  <a:srgbClr val="1A1C33"/>
                </a:solidFill>
                <a:latin typeface="Arial"/>
              </a:rPr>
              <a:t> long-range coupling survives; O(N log N), no complex arithmetic, no trig.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600" b="1" i="0">
                <a:solidFill>
                  <a:srgbClr val="4F6DF5"/>
                </a:solidFill>
                <a:latin typeface="Arial"/>
              </a:rPr>
              <a:t>▪ </a:t>
            </a:r>
            <a:r>
              <a:rPr sz="1600" b="1" i="0">
                <a:solidFill>
                  <a:srgbClr val="1A1C33"/>
                </a:solidFill>
                <a:latin typeface="Arial"/>
              </a:rPr>
              <a:t>Intuition</a:t>
            </a:r>
            <a:r>
              <a:rPr sz="1600" b="0" i="0">
                <a:solidFill>
                  <a:srgbClr val="1A1C33"/>
                </a:solidFill>
                <a:latin typeface="Arial"/>
              </a:rPr>
              <a:t>: Fourier = global + smooth (blurs edges); Wavelet = local + step (sharp but short reach); Walsh = </a:t>
            </a:r>
            <a:r>
              <a:rPr sz="1600" b="1" i="0">
                <a:solidFill>
                  <a:srgbClr val="1A1C33"/>
                </a:solidFill>
                <a:latin typeface="Arial"/>
              </a:rPr>
              <a:t>global + step</a:t>
            </a:r>
            <a:r>
              <a:rPr sz="1600" b="0" i="0">
                <a:solidFill>
                  <a:srgbClr val="1A1C33"/>
                </a:solidFill>
                <a:latin typeface="Arial"/>
              </a:rPr>
              <a:t> (sharp </a:t>
            </a:r>
            <a:r>
              <a:rPr sz="1600" b="0" i="1">
                <a:solidFill>
                  <a:srgbClr val="1A1C33"/>
                </a:solidFill>
                <a:latin typeface="Arial"/>
              </a:rPr>
              <a:t>and</a:t>
            </a:r>
            <a:r>
              <a:rPr sz="1600" b="0" i="0">
                <a:solidFill>
                  <a:srgbClr val="1A1C33"/>
                </a:solidFill>
                <a:latin typeface="Arial"/>
              </a:rPr>
              <a:t> long-range).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600" b="1" i="0">
                <a:solidFill>
                  <a:srgbClr val="4F6DF5"/>
                </a:solidFill>
                <a:latin typeface="Arial"/>
              </a:rPr>
              <a:t>▪ </a:t>
            </a:r>
            <a:r>
              <a:rPr sz="1600" b="0" i="0">
                <a:solidFill>
                  <a:srgbClr val="1A1C33"/>
                </a:solidFill>
                <a:latin typeface="Arial"/>
              </a:rPr>
              <a:t>Also makes </a:t>
            </a:r>
            <a:r>
              <a:rPr sz="1600" b="1" i="0">
                <a:solidFill>
                  <a:srgbClr val="1A1C33"/>
                </a:solidFill>
                <a:latin typeface="Arial"/>
              </a:rPr>
              <a:t>basis choice a hyperparameter</a:t>
            </a:r>
            <a:r>
              <a:rPr sz="1600" b="0" i="0">
                <a:solidFill>
                  <a:srgbClr val="1A1C33"/>
                </a:solidFill>
                <a:latin typeface="Arial"/>
              </a:rPr>
              <a:t> — which is what enables the controlled comparisons later.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6F8A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4F6DF5"/>
                </a:solidFill>
                <a:latin typeface="Arial"/>
              </a:rPr>
              <a:t>2 · MODEL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A1C33"/>
                </a:solidFill>
                <a:latin typeface="Arial"/>
              </a:rPr>
              <a:t>Step 3 — the U-Net path (U-FNO)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07008"/>
            <a:ext cx="1280160" cy="41148"/>
          </a:xfrm>
          <a:prstGeom prst="rect">
            <a:avLst/>
          </a:prstGeom>
          <a:solidFill>
            <a:srgbClr val="4F6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81328"/>
            <a:ext cx="11064240" cy="502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600" b="1" i="0">
                <a:solidFill>
                  <a:srgbClr val="4F6DF5"/>
                </a:solidFill>
                <a:latin typeface="Arial"/>
              </a:rPr>
              <a:t>▪ </a:t>
            </a:r>
            <a:r>
              <a:rPr sz="1600" b="1" i="0">
                <a:solidFill>
                  <a:srgbClr val="1A1C33"/>
                </a:solidFill>
                <a:latin typeface="Arial"/>
              </a:rPr>
              <a:t>U-FNO</a:t>
            </a:r>
            <a:r>
              <a:rPr sz="1600" b="0" i="0">
                <a:solidFill>
                  <a:srgbClr val="1A1C33"/>
                </a:solidFill>
                <a:latin typeface="Arial"/>
              </a:rPr>
              <a:t> interleaves FNO blocks with </a:t>
            </a:r>
            <a:r>
              <a:rPr sz="1600" b="1" i="0">
                <a:solidFill>
                  <a:srgbClr val="1A1C33"/>
                </a:solidFill>
                <a:latin typeface="Arial"/>
              </a:rPr>
              <a:t>U-Fourier blocks</a:t>
            </a:r>
            <a:r>
              <a:rPr sz="1600" b="0" i="0">
                <a:solidFill>
                  <a:srgbClr val="1A1C33"/>
                </a:solidFill>
                <a:latin typeface="Arial"/>
              </a:rPr>
              <a:t>: each adds a parallel mini 3-D </a:t>
            </a:r>
            <a:r>
              <a:rPr sz="1600" b="1" i="0">
                <a:solidFill>
                  <a:srgbClr val="1A1C33"/>
                </a:solidFill>
                <a:latin typeface="Arial"/>
              </a:rPr>
              <a:t>U-Net</a:t>
            </a:r>
            <a:r>
              <a:rPr sz="1600" b="0" i="0">
                <a:solidFill>
                  <a:srgbClr val="1A1C33"/>
                </a:solidFill>
                <a:latin typeface="Arial"/>
              </a:rPr>
              <a:t> (strided conv) beside the spectral path.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600" b="1" i="0">
                <a:solidFill>
                  <a:srgbClr val="4F6DF5"/>
                </a:solidFill>
                <a:latin typeface="Arial"/>
              </a:rPr>
              <a:t>▪ </a:t>
            </a:r>
            <a:r>
              <a:rPr sz="1600" b="1" i="0">
                <a:solidFill>
                  <a:srgbClr val="1A1C33"/>
                </a:solidFill>
                <a:latin typeface="Arial"/>
              </a:rPr>
              <a:t>Why it works</a:t>
            </a:r>
            <a:r>
              <a:rPr sz="1600" b="0" i="0">
                <a:solidFill>
                  <a:srgbClr val="1A1C33"/>
                </a:solidFill>
                <a:latin typeface="Arial"/>
              </a:rPr>
              <a:t>: pure local convolution is </a:t>
            </a:r>
            <a:r>
              <a:rPr sz="1600" b="0" i="1">
                <a:solidFill>
                  <a:srgbClr val="1A1C33"/>
                </a:solidFill>
                <a:latin typeface="Arial"/>
              </a:rPr>
              <a:t>Gibbs-free</a:t>
            </a:r>
            <a:r>
              <a:rPr sz="1600" b="0" i="0">
                <a:solidFill>
                  <a:srgbClr val="1A1C33"/>
                </a:solidFill>
                <a:latin typeface="Arial"/>
              </a:rPr>
              <a:t> for step functions — a genuinely different basis, not more of the same.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600" b="1" i="0">
                <a:solidFill>
                  <a:srgbClr val="4F6DF5"/>
                </a:solidFill>
                <a:latin typeface="Arial"/>
              </a:rPr>
              <a:t>▪ </a:t>
            </a:r>
            <a:r>
              <a:rPr sz="1600" b="1" i="0">
                <a:solidFill>
                  <a:srgbClr val="1A1C33"/>
                </a:solidFill>
                <a:latin typeface="Arial"/>
              </a:rPr>
              <a:t>Result</a:t>
            </a:r>
            <a:r>
              <a:rPr sz="1600" b="0" i="0">
                <a:solidFill>
                  <a:srgbClr val="1A1C33"/>
                </a:solidFill>
                <a:latin typeface="Arial"/>
              </a:rPr>
              <a:t>: val L² 0.056 → </a:t>
            </a:r>
            <a:r>
              <a:rPr sz="1600" b="1" i="0">
                <a:solidFill>
                  <a:srgbClr val="1A1C33"/>
                </a:solidFill>
                <a:latin typeface="Arial"/>
              </a:rPr>
              <a:t>0.0418</a:t>
            </a:r>
            <a:r>
              <a:rPr sz="1600" b="0" i="0">
                <a:solidFill>
                  <a:srgbClr val="1A1C33"/>
                </a:solidFill>
                <a:latin typeface="Arial"/>
              </a:rPr>
              <a:t>; val H¹ 11.36 → </a:t>
            </a:r>
            <a:r>
              <a:rPr sz="1600" b="1" i="0">
                <a:solidFill>
                  <a:srgbClr val="1A1C33"/>
                </a:solidFill>
                <a:latin typeface="Arial"/>
              </a:rPr>
              <a:t>8.27</a:t>
            </a:r>
            <a:r>
              <a:rPr sz="1600" b="0" i="0">
                <a:solidFill>
                  <a:srgbClr val="1A1C33"/>
                </a:solidFill>
                <a:latin typeface="Arial"/>
              </a:rPr>
              <a:t> — the first time H¹ breaks 11, i.e. the walls got sharper.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600" b="1" i="0">
                <a:solidFill>
                  <a:srgbClr val="4F6DF5"/>
                </a:solidFill>
                <a:latin typeface="Arial"/>
              </a:rPr>
              <a:t>▪ </a:t>
            </a:r>
            <a:r>
              <a:rPr sz="1600" b="0" i="0">
                <a:solidFill>
                  <a:srgbClr val="1A1C33"/>
                </a:solidFill>
                <a:latin typeface="Arial"/>
              </a:rPr>
              <a:t>Same inputs, same loss, same modes as the FNO — the win is </a:t>
            </a:r>
            <a:r>
              <a:rPr sz="1600" b="1" i="0">
                <a:solidFill>
                  <a:srgbClr val="1A1C33"/>
                </a:solidFill>
                <a:latin typeface="Arial"/>
              </a:rPr>
              <a:t>purely the local conv path</a:t>
            </a:r>
            <a:r>
              <a:rPr sz="1600" b="0" i="0">
                <a:solidFill>
                  <a:srgbClr val="1A1C33"/>
                </a:solidFill>
                <a:latin typeface="Arial"/>
              </a:rPr>
              <a:t>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500" b="0" i="0">
                <a:solidFill>
                  <a:srgbClr val="6B6F8A"/>
                </a:solidFill>
                <a:latin typeface="Arial"/>
              </a:rPr>
              <a:t>–  </a:t>
            </a:r>
            <a:r>
              <a:rPr sz="1500" b="0" i="0">
                <a:solidFill>
                  <a:srgbClr val="3A3E5C"/>
                </a:solidFill>
                <a:latin typeface="Arial"/>
              </a:rPr>
              <a:t>Engineering footnote: BatchNorm under batch-1 DDP silently drifts running stats → fixed with SyncBatchNorm (a 4.6× val-L² trap).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6F8A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4F6DF5"/>
                </a:solidFill>
                <a:latin typeface="Arial"/>
              </a:rPr>
              <a:t>2 · MODEL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A1C33"/>
                </a:solidFill>
                <a:latin typeface="Arial"/>
              </a:rPr>
              <a:t>Step 4 — the SIREN hypernetwork (SirenFNO)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07008"/>
            <a:ext cx="1280160" cy="41148"/>
          </a:xfrm>
          <a:prstGeom prst="rect">
            <a:avLst/>
          </a:prstGeom>
          <a:solidFill>
            <a:srgbClr val="4F6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81328"/>
            <a:ext cx="1106424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600" b="1" i="0">
                <a:solidFill>
                  <a:srgbClr val="4F6DF5"/>
                </a:solidFill>
                <a:latin typeface="Arial"/>
              </a:rPr>
              <a:t>▪ </a:t>
            </a:r>
            <a:r>
              <a:rPr sz="1600" b="1" i="0">
                <a:solidFill>
                  <a:srgbClr val="1A1C33"/>
                </a:solidFill>
                <a:latin typeface="Arial"/>
              </a:rPr>
              <a:t>Diagnosis</a:t>
            </a:r>
            <a:r>
              <a:rPr sz="1600" b="0" i="0">
                <a:solidFill>
                  <a:srgbClr val="1A1C33"/>
                </a:solidFill>
                <a:latin typeface="Arial"/>
              </a:rPr>
              <a:t>: learnable per-mode weights </a:t>
            </a:r>
            <a:r>
              <a:rPr sz="1600" b="1" i="0">
                <a:solidFill>
                  <a:srgbClr val="1A1C33"/>
                </a:solidFill>
                <a:latin typeface="Arial"/>
              </a:rPr>
              <a:t>collapse to low frequencies</a:t>
            </a:r>
            <a:r>
              <a:rPr sz="1600" b="0" i="0">
                <a:solidFill>
                  <a:srgbClr val="1A1C33"/>
                </a:solidFill>
                <a:latin typeface="Arial"/>
              </a:rPr>
              <a:t> — the lowest 8 of 32 LOS modes hold </a:t>
            </a:r>
            <a:r>
              <a:rPr sz="1600" b="1" i="0">
                <a:solidFill>
                  <a:srgbClr val="1A1C33"/>
                </a:solidFill>
                <a:latin typeface="Arial"/>
              </a:rPr>
              <a:t>52%</a:t>
            </a:r>
            <a:r>
              <a:rPr sz="1600" b="0" i="0">
                <a:solidFill>
                  <a:srgbClr val="1A1C33"/>
                </a:solidFill>
                <a:latin typeface="Arial"/>
              </a:rPr>
              <a:t> of the weight (learned within one epoch).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600" b="1" i="0">
                <a:solidFill>
                  <a:srgbClr val="4F6DF5"/>
                </a:solidFill>
                <a:latin typeface="Arial"/>
              </a:rPr>
              <a:t>▪ </a:t>
            </a:r>
            <a:r>
              <a:rPr sz="1600" b="1" i="0">
                <a:solidFill>
                  <a:srgbClr val="1A1C33"/>
                </a:solidFill>
                <a:latin typeface="Arial"/>
              </a:rPr>
              <a:t>SirenFNO</a:t>
            </a:r>
            <a:r>
              <a:rPr sz="1600" b="0" i="0">
                <a:solidFill>
                  <a:srgbClr val="1A1C33"/>
                </a:solidFill>
                <a:latin typeface="Arial"/>
              </a:rPr>
              <a:t>: a SIREN MLP </a:t>
            </a:r>
            <a:r>
              <a:rPr sz="1600" b="1" i="0">
                <a:solidFill>
                  <a:srgbClr val="1A1C33"/>
                </a:solidFill>
                <a:latin typeface="Arial"/>
              </a:rPr>
              <a:t>generates</a:t>
            </a:r>
            <a:r>
              <a:rPr sz="1600" b="0" i="0">
                <a:solidFill>
                  <a:srgbClr val="1A1C33"/>
                </a:solidFill>
                <a:latin typeface="Arial"/>
              </a:rPr>
              <a:t> the kernel R(k) for </a:t>
            </a:r>
            <a:r>
              <a:rPr sz="1600" b="0" i="1">
                <a:solidFill>
                  <a:srgbClr val="1A1C33"/>
                </a:solidFill>
                <a:latin typeface="Arial"/>
              </a:rPr>
              <a:t>every</a:t>
            </a:r>
            <a:r>
              <a:rPr sz="1600" b="0" i="0">
                <a:solidFill>
                  <a:srgbClr val="1A1C33"/>
                </a:solidFill>
                <a:latin typeface="Arial"/>
              </a:rPr>
              <a:t> mode — no truncation, constant parameter count.</a:t>
            </a:r>
          </a:p>
        </p:txBody>
      </p:sp>
      <p:pic>
        <p:nvPicPr>
          <p:cNvPr id="6" name="Picture 5" descr="ufno32_z_cutoff_rat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3246120"/>
            <a:ext cx="3657600" cy="2194560"/>
          </a:xfrm>
          <a:prstGeom prst="rect">
            <a:avLst/>
          </a:prstGeom>
        </p:spPr>
      </p:pic>
      <p:pic>
        <p:nvPicPr>
          <p:cNvPr id="7" name="Picture 6" descr="sirenfno_cutoff_rat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3246120"/>
            <a:ext cx="5486400" cy="12801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46811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6B6F8A"/>
                </a:solidFill>
                <a:latin typeface="Arial"/>
              </a:rPr>
              <a:t>U-FNO: high/low-mode ratio falls 1.0 → 0.1–0.45  (low-frequency collapse)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546811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6B6F8A"/>
                </a:solidFill>
                <a:latin typeface="Arial"/>
              </a:rPr>
              <a:t>SirenFNO: ratio pinned at ≈1.0  (flat spectrum)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760720"/>
            <a:ext cx="110642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500" b="1" i="0">
                <a:solidFill>
                  <a:srgbClr val="4F6DF5"/>
                </a:solidFill>
                <a:latin typeface="Arial"/>
              </a:rPr>
              <a:t>▪ </a:t>
            </a:r>
            <a:r>
              <a:rPr sz="1500" b="1" i="0">
                <a:solidFill>
                  <a:srgbClr val="1A1C33"/>
                </a:solidFill>
                <a:latin typeface="Arial"/>
              </a:rPr>
              <a:t>Result</a:t>
            </a:r>
            <a:r>
              <a:rPr sz="1500" b="0" i="0">
                <a:solidFill>
                  <a:srgbClr val="1A1C33"/>
                </a:solidFill>
                <a:latin typeface="Arial"/>
              </a:rPr>
              <a:t>: flat learned spectrum; beats plain FNO (test L² 0.057 → 0.050, H¹ 11.6 → 9.8) — but </a:t>
            </a:r>
            <a:r>
              <a:rPr sz="1500" b="1" i="0">
                <a:solidFill>
                  <a:srgbClr val="1A1C33"/>
                </a:solidFill>
                <a:latin typeface="Arial"/>
              </a:rPr>
              <a:t>not yet</a:t>
            </a:r>
            <a:r>
              <a:rPr sz="1500" b="0" i="0">
                <a:solidFill>
                  <a:srgbClr val="1A1C33"/>
                </a:solidFill>
                <a:latin typeface="Arial"/>
              </a:rPr>
              <a:t> the U-FNO, because it lacks the local path.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6F8A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4F6DF5"/>
                </a:solidFill>
                <a:latin typeface="Arial"/>
              </a:rPr>
              <a:t>2 · MODEL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A1C33"/>
                </a:solidFill>
                <a:latin typeface="Arial"/>
              </a:rPr>
              <a:t>Step 5 — putting it together: two slots, one skeleton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07008"/>
            <a:ext cx="1280160" cy="41148"/>
          </a:xfrm>
          <a:prstGeom prst="rect">
            <a:avLst/>
          </a:prstGeom>
          <a:solidFill>
            <a:srgbClr val="4F6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81328"/>
            <a:ext cx="6309360" cy="5120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600" b="1" i="0">
                <a:solidFill>
                  <a:srgbClr val="4F6DF5"/>
                </a:solidFill>
                <a:latin typeface="Arial"/>
              </a:rPr>
              <a:t>▪ </a:t>
            </a:r>
            <a:r>
              <a:rPr sz="1600" b="0" i="0">
                <a:solidFill>
                  <a:srgbClr val="1A1C33"/>
                </a:solidFill>
                <a:latin typeface="Arial"/>
              </a:rPr>
              <a:t>A single </a:t>
            </a:r>
            <a:r>
              <a:rPr sz="1600" b="1" i="0">
                <a:solidFill>
                  <a:srgbClr val="1A1C33"/>
                </a:solidFill>
                <a:latin typeface="Arial"/>
              </a:rPr>
              <a:t>windowed U-Net skeleton</a:t>
            </a:r>
            <a:r>
              <a:rPr sz="1600" b="0" i="0">
                <a:solidFill>
                  <a:srgbClr val="1A1C33"/>
                </a:solidFill>
                <a:latin typeface="Arial"/>
              </a:rPr>
              <a:t> with two independent operator slots: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500" b="0" i="0">
                <a:solidFill>
                  <a:srgbClr val="6B6F8A"/>
                </a:solidFill>
                <a:latin typeface="Arial"/>
              </a:rPr>
              <a:t>–  </a:t>
            </a:r>
            <a:r>
              <a:rPr sz="1500" b="1" i="0">
                <a:solidFill>
                  <a:srgbClr val="3A3E5C"/>
                </a:solidFill>
                <a:latin typeface="Arial"/>
              </a:rPr>
              <a:t>local slot</a:t>
            </a:r>
            <a:r>
              <a:rPr sz="1500" b="0" i="0">
                <a:solidFill>
                  <a:srgbClr val="3A3E5C"/>
                </a:solidFill>
                <a:latin typeface="Arial"/>
              </a:rPr>
              <a:t> — windowed encoder/decoder branches (sharp, small-patch);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500" b="0" i="0">
                <a:solidFill>
                  <a:srgbClr val="6B6F8A"/>
                </a:solidFill>
                <a:latin typeface="Arial"/>
              </a:rPr>
              <a:t>–  </a:t>
            </a:r>
            <a:r>
              <a:rPr sz="1500" b="1" i="0">
                <a:solidFill>
                  <a:srgbClr val="3A3E5C"/>
                </a:solidFill>
                <a:latin typeface="Arial"/>
              </a:rPr>
              <a:t>global slot</a:t>
            </a:r>
            <a:r>
              <a:rPr sz="1500" b="0" i="0">
                <a:solidFill>
                  <a:srgbClr val="3A3E5C"/>
                </a:solidFill>
                <a:latin typeface="Arial"/>
              </a:rPr>
              <a:t> — whole-field bottleneck (long-range, 200 Mpc).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600" b="1" i="0">
                <a:solidFill>
                  <a:srgbClr val="4F6DF5"/>
                </a:solidFill>
                <a:latin typeface="Arial"/>
              </a:rPr>
              <a:t>▪ </a:t>
            </a:r>
            <a:r>
              <a:rPr sz="1600" b="0" i="0">
                <a:solidFill>
                  <a:srgbClr val="1A1C33"/>
                </a:solidFill>
                <a:latin typeface="Arial"/>
              </a:rPr>
              <a:t>Any operator can fill either slot → FNO, LocalFNO, LocalWNO, WHNO, </a:t>
            </a:r>
            <a:r>
              <a:rPr sz="1600" b="1" i="0">
                <a:solidFill>
                  <a:srgbClr val="1A1C33"/>
                </a:solidFill>
                <a:latin typeface="Arial"/>
              </a:rPr>
              <a:t>LocalSirenFNO</a:t>
            </a:r>
            <a:r>
              <a:rPr sz="1600" b="0" i="0">
                <a:solidFill>
                  <a:srgbClr val="1A1C33"/>
                </a:solidFill>
                <a:latin typeface="Arial"/>
              </a:rPr>
              <a:t> …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600" b="1" i="0">
                <a:solidFill>
                  <a:srgbClr val="4F6DF5"/>
                </a:solidFill>
                <a:latin typeface="Arial"/>
              </a:rPr>
              <a:t>▪ </a:t>
            </a:r>
            <a:r>
              <a:rPr sz="1600" b="0" i="0">
                <a:solidFill>
                  <a:srgbClr val="1A1C33"/>
                </a:solidFill>
                <a:latin typeface="Arial"/>
              </a:rPr>
              <a:t>This is what turns “which basis is best” into a </a:t>
            </a:r>
            <a:r>
              <a:rPr sz="1600" b="1" i="0">
                <a:solidFill>
                  <a:srgbClr val="1A1C33"/>
                </a:solidFill>
                <a:latin typeface="Arial"/>
              </a:rPr>
              <a:t>testable question</a:t>
            </a:r>
            <a:r>
              <a:rPr sz="1600" b="0" i="0">
                <a:solidFill>
                  <a:srgbClr val="1A1C33"/>
                </a:solidFill>
                <a:latin typeface="Arial"/>
              </a:rPr>
              <a:t>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600" b="1" i="0">
                <a:solidFill>
                  <a:srgbClr val="4F6DF5"/>
                </a:solidFill>
                <a:latin typeface="Arial"/>
              </a:rPr>
              <a:t>▪ </a:t>
            </a:r>
            <a:r>
              <a:rPr sz="1600" b="1" i="0">
                <a:solidFill>
                  <a:srgbClr val="1A1C33"/>
                </a:solidFill>
                <a:latin typeface="Arial"/>
              </a:rPr>
              <a:t>Payoff on cost</a:t>
            </a:r>
            <a:r>
              <a:rPr sz="1600" b="0" i="0">
                <a:solidFill>
                  <a:srgbClr val="1A1C33"/>
                </a:solidFill>
                <a:latin typeface="Arial"/>
              </a:rPr>
              <a:t>: local models are </a:t>
            </a:r>
            <a:r>
              <a:rPr sz="1600" b="1" i="0">
                <a:solidFill>
                  <a:srgbClr val="1A1C33"/>
                </a:solidFill>
                <a:latin typeface="Arial"/>
              </a:rPr>
              <a:t>20–60× smaller</a:t>
            </a:r>
            <a:r>
              <a:rPr sz="1600" b="0" i="0">
                <a:solidFill>
                  <a:srgbClr val="1A1C33"/>
                </a:solidFill>
                <a:latin typeface="Arial"/>
              </a:rPr>
              <a:t> than the U-FNO and use ~40% less peak memory — the number that matters inside an SBI loop.</a:t>
            </a:r>
          </a:p>
        </p:txBody>
      </p:sp>
      <p:pic>
        <p:nvPicPr>
          <p:cNvPr id="6" name="Picture 5" descr="operator_params_vs_through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1600200"/>
            <a:ext cx="4572000" cy="283650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040880" y="498348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6B6F8A"/>
                </a:solidFill>
                <a:latin typeface="Arial"/>
              </a:rPr>
              <a:t>Parameters vs throughput (A30 benchmark)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6F8A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4F6DF5"/>
                </a:solidFill>
                <a:latin typeface="Arial"/>
              </a:rPr>
              <a:t>3 ·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A1C33"/>
                </a:solidFill>
                <a:latin typeface="Arial"/>
              </a:rPr>
              <a:t>Plain-L² ranking — 2-D x_HI slices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07008"/>
            <a:ext cx="1280160" cy="41148"/>
          </a:xfrm>
          <a:prstGeom prst="rect">
            <a:avLst/>
          </a:prstGeom>
          <a:solidFill>
            <a:srgbClr val="4F6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500" b="1" i="0">
                <a:solidFill>
                  <a:srgbClr val="4F6DF5"/>
                </a:solidFill>
                <a:latin typeface="Arial"/>
              </a:rPr>
              <a:t>▪ </a:t>
            </a:r>
            <a:r>
              <a:rPr sz="1500" b="0" i="0">
                <a:solidFill>
                  <a:srgbClr val="1A1C33"/>
                </a:solidFill>
                <a:latin typeface="Arial"/>
              </a:rPr>
              <a:t>All models, same task / split / resolution, 30 epochs, pure L². Sorted by RMSE.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2057400"/>
          <a:ext cx="1106424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37760"/>
                <a:gridCol w="1531620"/>
                <a:gridCol w="1531620"/>
                <a:gridCol w="1531620"/>
                <a:gridCol w="1531620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architecture</a:t>
                      </a:r>
                    </a:p>
                  </a:txBody>
                  <a:tcPr marT="38100" marB="38100" marL="101600" marR="101600">
                    <a:solidFill>
                      <a:srgbClr val="1416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val RMSE</a:t>
                      </a:r>
                    </a:p>
                  </a:txBody>
                  <a:tcPr marT="38100" marB="38100" marL="101600" marR="101600">
                    <a:solidFill>
                      <a:srgbClr val="1416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test RMSE</a:t>
                      </a:r>
                    </a:p>
                  </a:txBody>
                  <a:tcPr marT="38100" marB="38100" marL="101600" marR="101600">
                    <a:solidFill>
                      <a:srgbClr val="1416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val/train</a:t>
                      </a:r>
                    </a:p>
                  </a:txBody>
                  <a:tcPr marT="38100" marB="38100" marL="101600" marR="101600">
                    <a:solidFill>
                      <a:srgbClr val="1416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params</a:t>
                      </a:r>
                    </a:p>
                  </a:txBody>
                  <a:tcPr marT="38100" marB="38100" marL="101600" marR="101600">
                    <a:solidFill>
                      <a:srgbClr val="14162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1A1C33"/>
                          </a:solidFill>
                          <a:latin typeface="Arial"/>
                        </a:rPr>
                        <a:t>local fno / global whno  ★</a:t>
                      </a:r>
                    </a:p>
                  </a:txBody>
                  <a:tcPr marT="38100" marB="38100" marL="101600" marR="101600">
                    <a:solidFill>
                      <a:srgbClr val="E7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1A1C33"/>
                          </a:solidFill>
                          <a:latin typeface="Arial"/>
                        </a:rPr>
                        <a:t>0.1453</a:t>
                      </a:r>
                    </a:p>
                  </a:txBody>
                  <a:tcPr marT="38100" marB="38100" marL="101600" marR="101600">
                    <a:solidFill>
                      <a:srgbClr val="E7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A1C33"/>
                          </a:solidFill>
                          <a:latin typeface="Arial"/>
                        </a:rPr>
                        <a:t>0.1502</a:t>
                      </a:r>
                    </a:p>
                  </a:txBody>
                  <a:tcPr marT="38100" marB="38100" marL="101600" marR="101600">
                    <a:solidFill>
                      <a:srgbClr val="E7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A1C33"/>
                          </a:solidFill>
                          <a:latin typeface="Arial"/>
                        </a:rPr>
                        <a:t>1.01×</a:t>
                      </a:r>
                    </a:p>
                  </a:txBody>
                  <a:tcPr marT="38100" marB="38100" marL="101600" marR="101600">
                    <a:solidFill>
                      <a:srgbClr val="E7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A1C33"/>
                          </a:solidFill>
                          <a:latin typeface="Arial"/>
                        </a:rPr>
                        <a:t>0.54 M</a:t>
                      </a:r>
                    </a:p>
                  </a:txBody>
                  <a:tcPr marT="38100" marB="38100" marL="101600" marR="101600">
                    <a:solidFill>
                      <a:srgbClr val="E7E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1A1C33"/>
                          </a:solidFill>
                          <a:latin typeface="Arial"/>
                        </a:rPr>
                        <a:t>local fno / global fno  (LocalFNO)</a:t>
                      </a:r>
                    </a:p>
                  </a:txBody>
                  <a:tcPr marT="38100" marB="38100" marL="101600" marR="101600">
                    <a:solidFill>
                      <a:srgbClr val="F5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A1C33"/>
                          </a:solidFill>
                          <a:latin typeface="Arial"/>
                        </a:rPr>
                        <a:t>0.1487</a:t>
                      </a:r>
                    </a:p>
                  </a:txBody>
                  <a:tcPr marT="38100" marB="38100" marL="101600" marR="101600">
                    <a:solidFill>
                      <a:srgbClr val="F5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A1C33"/>
                          </a:solidFill>
                          <a:latin typeface="Arial"/>
                        </a:rPr>
                        <a:t>0.1540</a:t>
                      </a:r>
                    </a:p>
                  </a:txBody>
                  <a:tcPr marT="38100" marB="38100" marL="101600" marR="101600">
                    <a:solidFill>
                      <a:srgbClr val="F5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A1C33"/>
                          </a:solidFill>
                          <a:latin typeface="Arial"/>
                        </a:rPr>
                        <a:t>1.08×</a:t>
                      </a:r>
                    </a:p>
                  </a:txBody>
                  <a:tcPr marT="38100" marB="38100" marL="101600" marR="101600">
                    <a:solidFill>
                      <a:srgbClr val="F5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A1C33"/>
                          </a:solidFill>
                          <a:latin typeface="Arial"/>
                        </a:rPr>
                        <a:t>0.93 M</a:t>
                      </a:r>
                    </a:p>
                  </a:txBody>
                  <a:tcPr marT="38100" marB="38100" marL="101600" marR="101600">
                    <a:solidFill>
                      <a:srgbClr val="F5F6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1A1C33"/>
                          </a:solidFill>
                          <a:latin typeface="Arial"/>
                        </a:rPr>
                        <a:t>local wno / global fno  (LocalWNO)</a:t>
                      </a:r>
                    </a:p>
                  </a:txBody>
                  <a:tcPr marT="38100" marB="38100" marL="101600" marR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A1C33"/>
                          </a:solidFill>
                          <a:latin typeface="Arial"/>
                        </a:rPr>
                        <a:t>0.1502</a:t>
                      </a:r>
                    </a:p>
                  </a:txBody>
                  <a:tcPr marT="38100" marB="38100" marL="101600" marR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A1C33"/>
                          </a:solidFill>
                          <a:latin typeface="Arial"/>
                        </a:rPr>
                        <a:t>0.1549</a:t>
                      </a:r>
                    </a:p>
                  </a:txBody>
                  <a:tcPr marT="38100" marB="38100" marL="101600" marR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A1C33"/>
                          </a:solidFill>
                          <a:latin typeface="Arial"/>
                        </a:rPr>
                        <a:t>1.08×</a:t>
                      </a:r>
                    </a:p>
                  </a:txBody>
                  <a:tcPr marT="38100" marB="38100" marL="101600" marR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A1C33"/>
                          </a:solidFill>
                          <a:latin typeface="Arial"/>
                        </a:rPr>
                        <a:t>1.78 M</a:t>
                      </a:r>
                    </a:p>
                  </a:txBody>
                  <a:tcPr marT="38100" marB="38100" marL="101600" marR="1016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1A1C33"/>
                          </a:solidFill>
                          <a:latin typeface="Arial"/>
                        </a:rPr>
                        <a:t>local whno / global whno</a:t>
                      </a:r>
                    </a:p>
                  </a:txBody>
                  <a:tcPr marT="38100" marB="38100" marL="101600" marR="101600">
                    <a:solidFill>
                      <a:srgbClr val="F5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A1C33"/>
                          </a:solidFill>
                          <a:latin typeface="Arial"/>
                        </a:rPr>
                        <a:t>0.1501</a:t>
                      </a:r>
                    </a:p>
                  </a:txBody>
                  <a:tcPr marT="38100" marB="38100" marL="101600" marR="101600">
                    <a:solidFill>
                      <a:srgbClr val="F5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A1C33"/>
                          </a:solidFill>
                          <a:latin typeface="Arial"/>
                        </a:rPr>
                        <a:t>0.1550</a:t>
                      </a:r>
                    </a:p>
                  </a:txBody>
                  <a:tcPr marT="38100" marB="38100" marL="101600" marR="101600">
                    <a:solidFill>
                      <a:srgbClr val="F5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A1C33"/>
                          </a:solidFill>
                          <a:latin typeface="Arial"/>
                        </a:rPr>
                        <a:t>1.01×</a:t>
                      </a:r>
                    </a:p>
                  </a:txBody>
                  <a:tcPr marT="38100" marB="38100" marL="101600" marR="101600">
                    <a:solidFill>
                      <a:srgbClr val="F5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A1C33"/>
                          </a:solidFill>
                          <a:latin typeface="Arial"/>
                        </a:rPr>
                        <a:t>0.43 M</a:t>
                      </a:r>
                    </a:p>
                  </a:txBody>
                  <a:tcPr marT="38100" marB="38100" marL="101600" marR="101600">
                    <a:solidFill>
                      <a:srgbClr val="F5F6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1A1C33"/>
                          </a:solidFill>
                          <a:latin typeface="Arial"/>
                        </a:rPr>
                        <a:t>U-FNO</a:t>
                      </a:r>
                    </a:p>
                  </a:txBody>
                  <a:tcPr marT="38100" marB="38100" marL="101600" marR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A1C33"/>
                          </a:solidFill>
                          <a:latin typeface="Arial"/>
                        </a:rPr>
                        <a:t>0.1595</a:t>
                      </a:r>
                    </a:p>
                  </a:txBody>
                  <a:tcPr marT="38100" marB="38100" marL="101600" marR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A1C33"/>
                          </a:solidFill>
                          <a:latin typeface="Arial"/>
                        </a:rPr>
                        <a:t>0.1648</a:t>
                      </a:r>
                    </a:p>
                  </a:txBody>
                  <a:tcPr marT="38100" marB="38100" marL="101600" marR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A1C33"/>
                          </a:solidFill>
                          <a:latin typeface="Arial"/>
                        </a:rPr>
                        <a:t>1.19×</a:t>
                      </a:r>
                    </a:p>
                  </a:txBody>
                  <a:tcPr marT="38100" marB="38100" marL="101600" marR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A1C33"/>
                          </a:solidFill>
                          <a:latin typeface="Arial"/>
                        </a:rPr>
                        <a:t>25.6 M</a:t>
                      </a:r>
                    </a:p>
                  </a:txBody>
                  <a:tcPr marT="38100" marB="38100" marL="101600" marR="101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25780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500" b="1" i="0">
                <a:solidFill>
                  <a:srgbClr val="4F6DF5"/>
                </a:solidFill>
                <a:latin typeface="Arial"/>
              </a:rPr>
              <a:t>▪ </a:t>
            </a:r>
            <a:r>
              <a:rPr sz="1500" b="1" i="0">
                <a:solidFill>
                  <a:srgbClr val="1A1C33"/>
                </a:solidFill>
                <a:latin typeface="Arial"/>
              </a:rPr>
              <a:t>Walsh–Hadamard in the global slot</a:t>
            </a:r>
            <a:r>
              <a:rPr sz="1500" b="0" i="0">
                <a:solidFill>
                  <a:srgbClr val="1A1C33"/>
                </a:solidFill>
                <a:latin typeface="Arial"/>
              </a:rPr>
              <a:t> is the new leader; the </a:t>
            </a:r>
            <a:r>
              <a:rPr sz="1500" b="1" i="0">
                <a:solidFill>
                  <a:srgbClr val="1A1C33"/>
                </a:solidFill>
                <a:latin typeface="Arial"/>
              </a:rPr>
              <a:t>local/global slot matters more than the basis</a:t>
            </a:r>
            <a:r>
              <a:rPr sz="1500" b="0" i="0">
                <a:solidFill>
                  <a:srgbClr val="1A1C33"/>
                </a:solidFill>
                <a:latin typeface="Arial"/>
              </a:rPr>
              <a:t> (≈5% vs &lt;1% for ordering).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500" b="1" i="0">
                <a:solidFill>
                  <a:srgbClr val="4F6DF5"/>
                </a:solidFill>
                <a:latin typeface="Arial"/>
              </a:rPr>
              <a:t>▪ </a:t>
            </a:r>
            <a:r>
              <a:rPr sz="1500" b="1" i="0">
                <a:solidFill>
                  <a:srgbClr val="1A1C33"/>
                </a:solidFill>
                <a:latin typeface="Arial"/>
              </a:rPr>
              <a:t>U-FNO generalizes worst</a:t>
            </a:r>
            <a:r>
              <a:rPr sz="1500" b="0" i="0">
                <a:solidFill>
                  <a:srgbClr val="1A1C33"/>
                </a:solidFill>
                <a:latin typeface="Arial"/>
              </a:rPr>
              <a:t> (1.19×) — consistent across all three tasks.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6F8A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4F6DF5"/>
                </a:solidFill>
                <a:latin typeface="Arial"/>
              </a:rPr>
              <a:t>3 ·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A1C33"/>
                </a:solidFill>
                <a:latin typeface="Arial"/>
              </a:rPr>
              <a:t>z_re task — SIREN weights close the gap to U-FNO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07008"/>
            <a:ext cx="1280160" cy="41148"/>
          </a:xfrm>
          <a:prstGeom prst="rect">
            <a:avLst/>
          </a:prstGeom>
          <a:solidFill>
            <a:srgbClr val="4F6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81328"/>
            <a:ext cx="110642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600" b="1" i="0">
                <a:solidFill>
                  <a:srgbClr val="4F6DF5"/>
                </a:solidFill>
                <a:latin typeface="Arial"/>
              </a:rPr>
              <a:t>▪ </a:t>
            </a:r>
            <a:r>
              <a:rPr sz="1600" b="0" i="0">
                <a:solidFill>
                  <a:srgbClr val="1A1C33"/>
                </a:solidFill>
                <a:latin typeface="Arial"/>
              </a:rPr>
              <a:t>Second task: density lightcone → </a:t>
            </a:r>
            <a:r>
              <a:rPr sz="1600" b="1" i="0">
                <a:solidFill>
                  <a:srgbClr val="1A1C33"/>
                </a:solidFill>
                <a:latin typeface="Arial"/>
              </a:rPr>
              <a:t>z_re(x,y)</a:t>
            </a:r>
            <a:r>
              <a:rPr sz="1600" b="0" i="0">
                <a:solidFill>
                  <a:srgbClr val="1A1C33"/>
                </a:solidFill>
                <a:latin typeface="Arial"/>
              </a:rPr>
              <a:t> map (reionization-redshift per sightline). Held-out 660 cones; RMSE in redshift units.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600" b="1" i="0">
                <a:solidFill>
                  <a:srgbClr val="4F6DF5"/>
                </a:solidFill>
                <a:latin typeface="Arial"/>
              </a:rPr>
              <a:t>▪ </a:t>
            </a:r>
            <a:r>
              <a:rPr sz="1600" b="1" i="0">
                <a:solidFill>
                  <a:srgbClr val="1A1C33"/>
                </a:solidFill>
                <a:latin typeface="Arial"/>
              </a:rPr>
              <a:t>SIREN weights rescue the Local-FNO</a:t>
            </a:r>
            <a:r>
              <a:rPr sz="1600" b="0" i="0">
                <a:solidFill>
                  <a:srgbClr val="1A1C33"/>
                </a:solidFill>
                <a:latin typeface="Arial"/>
              </a:rPr>
              <a:t>: RMSE </a:t>
            </a:r>
            <a:r>
              <a:rPr sz="1600" b="1" i="0">
                <a:solidFill>
                  <a:srgbClr val="1A1C33"/>
                </a:solidFill>
                <a:latin typeface="Arial"/>
              </a:rPr>
              <a:t>0.305 → 0.123</a:t>
            </a:r>
            <a:r>
              <a:rPr sz="1600" b="0" i="0">
                <a:solidFill>
                  <a:srgbClr val="1A1C33"/>
                </a:solidFill>
                <a:latin typeface="Arial"/>
              </a:rPr>
              <a:t> — the largest architectural effect measured, at </a:t>
            </a:r>
            <a:r>
              <a:rPr sz="1600" b="1" i="0">
                <a:solidFill>
                  <a:srgbClr val="1A1C33"/>
                </a:solidFill>
                <a:latin typeface="Arial"/>
              </a:rPr>
              <a:t>54× fewer params</a:t>
            </a:r>
            <a:r>
              <a:rPr sz="1600" b="0" i="0">
                <a:solidFill>
                  <a:srgbClr val="1A1C33"/>
                </a:solidFill>
                <a:latin typeface="Arial"/>
              </a:rPr>
              <a:t> than U-FNO.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3703320"/>
          <a:ext cx="110642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1851660"/>
                <a:gridCol w="1851660"/>
                <a:gridCol w="1851660"/>
                <a:gridCol w="1851660"/>
              </a:tblGrid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model</a:t>
                      </a:r>
                    </a:p>
                  </a:txBody>
                  <a:tcPr marT="25400" marB="25400" marL="101600" marR="101600">
                    <a:solidFill>
                      <a:srgbClr val="1416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loss</a:t>
                      </a:r>
                    </a:p>
                  </a:txBody>
                  <a:tcPr marT="25400" marB="25400" marL="101600" marR="101600">
                    <a:solidFill>
                      <a:srgbClr val="1416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RMSE(z)</a:t>
                      </a:r>
                    </a:p>
                  </a:txBody>
                  <a:tcPr marT="25400" marB="25400" marL="101600" marR="101600">
                    <a:solidFill>
                      <a:srgbClr val="1416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R² (struct)</a:t>
                      </a:r>
                    </a:p>
                  </a:txBody>
                  <a:tcPr marT="25400" marB="25400" marL="101600" marR="101600">
                    <a:solidFill>
                      <a:srgbClr val="1416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params</a:t>
                      </a:r>
                    </a:p>
                  </a:txBody>
                  <a:tcPr marT="25400" marB="25400" marL="101600" marR="101600">
                    <a:solidFill>
                      <a:srgbClr val="14162E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C33"/>
                          </a:solidFill>
                          <a:latin typeface="Arial"/>
                        </a:rPr>
                        <a:t>FNO (w=64)</a:t>
                      </a:r>
                    </a:p>
                  </a:txBody>
                  <a:tcPr marT="25400" marB="25400" marL="101600" marR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C33"/>
                          </a:solidFill>
                          <a:latin typeface="Arial"/>
                        </a:rPr>
                        <a:t>L² only</a:t>
                      </a:r>
                    </a:p>
                  </a:txBody>
                  <a:tcPr marT="25400" marB="25400" marL="101600" marR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C33"/>
                          </a:solidFill>
                          <a:latin typeface="Arial"/>
                        </a:rPr>
                        <a:t>0.1168</a:t>
                      </a:r>
                    </a:p>
                  </a:txBody>
                  <a:tcPr marT="25400" marB="25400" marL="101600" marR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C33"/>
                          </a:solidFill>
                          <a:latin typeface="Arial"/>
                        </a:rPr>
                        <a:t>0.766</a:t>
                      </a:r>
                    </a:p>
                  </a:txBody>
                  <a:tcPr marT="25400" marB="25400" marL="101600" marR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C33"/>
                          </a:solidFill>
                          <a:latin typeface="Arial"/>
                        </a:rPr>
                        <a:t>17.9 M</a:t>
                      </a:r>
                    </a:p>
                  </a:txBody>
                  <a:tcPr marT="25400" marB="25400" marL="101600" marR="101600"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A1C33"/>
                          </a:solidFill>
                          <a:latin typeface="Arial"/>
                        </a:rPr>
                        <a:t>LocalSirenFNO (w=32)</a:t>
                      </a:r>
                    </a:p>
                  </a:txBody>
                  <a:tcPr marT="25400" marB="25400" marL="101600" marR="101600">
                    <a:solidFill>
                      <a:srgbClr val="E7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1A1C33"/>
                          </a:solidFill>
                          <a:latin typeface="Arial"/>
                        </a:rPr>
                        <a:t>L² only</a:t>
                      </a:r>
                    </a:p>
                  </a:txBody>
                  <a:tcPr marT="25400" marB="25400" marL="101600" marR="101600">
                    <a:solidFill>
                      <a:srgbClr val="E7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1A1C33"/>
                          </a:solidFill>
                          <a:latin typeface="Arial"/>
                        </a:rPr>
                        <a:t>0.1233</a:t>
                      </a:r>
                    </a:p>
                  </a:txBody>
                  <a:tcPr marT="25400" marB="25400" marL="101600" marR="101600">
                    <a:solidFill>
                      <a:srgbClr val="E7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1A1C33"/>
                          </a:solidFill>
                          <a:latin typeface="Arial"/>
                        </a:rPr>
                        <a:t>0.740</a:t>
                      </a:r>
                    </a:p>
                  </a:txBody>
                  <a:tcPr marT="25400" marB="25400" marL="101600" marR="101600">
                    <a:solidFill>
                      <a:srgbClr val="E7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1A1C33"/>
                          </a:solidFill>
                          <a:latin typeface="Arial"/>
                        </a:rPr>
                        <a:t>0.47 M</a:t>
                      </a:r>
                    </a:p>
                  </a:txBody>
                  <a:tcPr marT="25400" marB="25400" marL="101600" marR="101600">
                    <a:solidFill>
                      <a:srgbClr val="E7EFFF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C33"/>
                          </a:solidFill>
                          <a:latin typeface="Arial"/>
                        </a:rPr>
                        <a:t>SirenFNO (w=64)</a:t>
                      </a:r>
                    </a:p>
                  </a:txBody>
                  <a:tcPr marT="25400" marB="25400" marL="101600" marR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C33"/>
                          </a:solidFill>
                          <a:latin typeface="Arial"/>
                        </a:rPr>
                        <a:t>L² only</a:t>
                      </a:r>
                    </a:p>
                  </a:txBody>
                  <a:tcPr marT="25400" marB="25400" marL="101600" marR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C33"/>
                          </a:solidFill>
                          <a:latin typeface="Arial"/>
                        </a:rPr>
                        <a:t>0.1344</a:t>
                      </a:r>
                    </a:p>
                  </a:txBody>
                  <a:tcPr marT="25400" marB="25400" marL="101600" marR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C33"/>
                          </a:solidFill>
                          <a:latin typeface="Arial"/>
                        </a:rPr>
                        <a:t>0.691</a:t>
                      </a:r>
                    </a:p>
                  </a:txBody>
                  <a:tcPr marT="25400" marB="25400" marL="101600" marR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C33"/>
                          </a:solidFill>
                          <a:latin typeface="Arial"/>
                        </a:rPr>
                        <a:t>2.3 M</a:t>
                      </a:r>
                    </a:p>
                  </a:txBody>
                  <a:tcPr marT="25400" marB="25400" marL="101600" marR="101600"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C33"/>
                          </a:solidFill>
                          <a:latin typeface="Arial"/>
                        </a:rPr>
                        <a:t>U-FNO (w=32)</a:t>
                      </a:r>
                    </a:p>
                  </a:txBody>
                  <a:tcPr marT="25400" marB="25400" marL="101600" marR="101600">
                    <a:solidFill>
                      <a:srgbClr val="F5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C33"/>
                          </a:solidFill>
                          <a:latin typeface="Arial"/>
                        </a:rPr>
                        <a:t>L² only</a:t>
                      </a:r>
                    </a:p>
                  </a:txBody>
                  <a:tcPr marT="25400" marB="25400" marL="101600" marR="101600">
                    <a:solidFill>
                      <a:srgbClr val="F5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C33"/>
                          </a:solidFill>
                          <a:latin typeface="Arial"/>
                        </a:rPr>
                        <a:t>0.1505</a:t>
                      </a:r>
                    </a:p>
                  </a:txBody>
                  <a:tcPr marT="25400" marB="25400" marL="101600" marR="101600">
                    <a:solidFill>
                      <a:srgbClr val="F5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C33"/>
                          </a:solidFill>
                          <a:latin typeface="Arial"/>
                        </a:rPr>
                        <a:t>0.612</a:t>
                      </a:r>
                    </a:p>
                  </a:txBody>
                  <a:tcPr marT="25400" marB="25400" marL="101600" marR="101600">
                    <a:solidFill>
                      <a:srgbClr val="F5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C33"/>
                          </a:solidFill>
                          <a:latin typeface="Arial"/>
                        </a:rPr>
                        <a:t>25.6 M</a:t>
                      </a:r>
                    </a:p>
                  </a:txBody>
                  <a:tcPr marT="25400" marB="25400" marL="101600" marR="101600">
                    <a:solidFill>
                      <a:srgbClr val="F5F6FB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C33"/>
                          </a:solidFill>
                          <a:latin typeface="Arial"/>
                        </a:rPr>
                        <a:t>FNO (w=64)</a:t>
                      </a:r>
                    </a:p>
                  </a:txBody>
                  <a:tcPr marT="25400" marB="25400" marL="101600" marR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C33"/>
                          </a:solidFill>
                          <a:latin typeface="Arial"/>
                        </a:rPr>
                        <a:t>L²+H¹</a:t>
                      </a:r>
                    </a:p>
                  </a:txBody>
                  <a:tcPr marT="25400" marB="25400" marL="101600" marR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C33"/>
                          </a:solidFill>
                          <a:latin typeface="Arial"/>
                        </a:rPr>
                        <a:t>0.1822</a:t>
                      </a:r>
                    </a:p>
                  </a:txBody>
                  <a:tcPr marT="25400" marB="25400" marL="101600" marR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C33"/>
                          </a:solidFill>
                          <a:latin typeface="Arial"/>
                        </a:rPr>
                        <a:t>0.432</a:t>
                      </a:r>
                    </a:p>
                  </a:txBody>
                  <a:tcPr marT="25400" marB="25400" marL="101600" marR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C33"/>
                          </a:solidFill>
                          <a:latin typeface="Arial"/>
                        </a:rPr>
                        <a:t>17.9 M</a:t>
                      </a:r>
                    </a:p>
                  </a:txBody>
                  <a:tcPr marT="25400" marB="25400" marL="101600" marR="101600">
                    <a:solidFill>
                      <a:srgbClr val="FFFFFF"/>
                    </a:solidFill>
                  </a:tcPr>
                </a:tc>
              </a:tr>
              <a:tr h="339636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C33"/>
                          </a:solidFill>
                          <a:latin typeface="Arial"/>
                        </a:rPr>
                        <a:t>LocalFNO (w=16)</a:t>
                      </a:r>
                    </a:p>
                  </a:txBody>
                  <a:tcPr marT="25400" marB="25400" marL="101600" marR="101600">
                    <a:solidFill>
                      <a:srgbClr val="F5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C33"/>
                          </a:solidFill>
                          <a:latin typeface="Arial"/>
                        </a:rPr>
                        <a:t>L² only</a:t>
                      </a:r>
                    </a:p>
                  </a:txBody>
                  <a:tcPr marT="25400" marB="25400" marL="101600" marR="101600">
                    <a:solidFill>
                      <a:srgbClr val="F5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C33"/>
                          </a:solidFill>
                          <a:latin typeface="Arial"/>
                        </a:rPr>
                        <a:t>0.3047</a:t>
                      </a:r>
                    </a:p>
                  </a:txBody>
                  <a:tcPr marT="25400" marB="25400" marL="101600" marR="101600">
                    <a:solidFill>
                      <a:srgbClr val="F5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C33"/>
                          </a:solidFill>
                          <a:latin typeface="Arial"/>
                        </a:rPr>
                        <a:t>−0.589</a:t>
                      </a:r>
                    </a:p>
                  </a:txBody>
                  <a:tcPr marT="25400" marB="25400" marL="101600" marR="101600">
                    <a:solidFill>
                      <a:srgbClr val="F5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C33"/>
                          </a:solidFill>
                          <a:latin typeface="Arial"/>
                        </a:rPr>
                        <a:t>0.74 M</a:t>
                      </a:r>
                    </a:p>
                  </a:txBody>
                  <a:tcPr marT="25400" marB="25400" marL="101600" marR="101600">
                    <a:solidFill>
                      <a:srgbClr val="F5F6F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1247120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6F8A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4F6DF5"/>
                </a:solidFill>
                <a:latin typeface="Arial"/>
              </a:rPr>
              <a:t>3 ·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A1C33"/>
                </a:solidFill>
                <a:latin typeface="Arial"/>
              </a:rPr>
              <a:t>Edge sharpness &amp; bubble sizes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07008"/>
            <a:ext cx="1280160" cy="41148"/>
          </a:xfrm>
          <a:prstGeom prst="rect">
            <a:avLst/>
          </a:prstGeom>
          <a:solidFill>
            <a:srgbClr val="4F6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81328"/>
            <a:ext cx="6309360" cy="5120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500" b="1" i="0">
                <a:solidFill>
                  <a:srgbClr val="4F6DF5"/>
                </a:solidFill>
                <a:latin typeface="Arial"/>
              </a:rPr>
              <a:t>▪ </a:t>
            </a:r>
            <a:r>
              <a:rPr sz="1500" b="1" i="0">
                <a:solidFill>
                  <a:srgbClr val="1A1C33"/>
                </a:solidFill>
                <a:latin typeface="Arial"/>
              </a:rPr>
              <a:t>Diagnosis — hedging</a:t>
            </a:r>
            <a:r>
              <a:rPr sz="1500" b="0" i="0">
                <a:solidFill>
                  <a:srgbClr val="1A1C33"/>
                </a:solidFill>
                <a:latin typeface="Arial"/>
              </a:rPr>
              <a:t>: L² (and H¹ one derivative up) are </a:t>
            </a:r>
            <a:r>
              <a:rPr sz="1500" b="0" i="1">
                <a:solidFill>
                  <a:srgbClr val="1A1C33"/>
                </a:solidFill>
                <a:latin typeface="Arial"/>
              </a:rPr>
              <a:t>minimised by a blurred front</a:t>
            </a:r>
            <a:r>
              <a:rPr sz="1500" b="0" i="0">
                <a:solidFill>
                  <a:srgbClr val="1A1C33"/>
                </a:solidFill>
                <a:latin typeface="Arial"/>
              </a:rPr>
              <a:t> when the wall position is uncertain → every RMSE-optimal model sits at ≈2.9 px width (truth 1.46).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500" b="1" i="0">
                <a:solidFill>
                  <a:srgbClr val="4F6DF5"/>
                </a:solidFill>
                <a:latin typeface="Arial"/>
              </a:rPr>
              <a:t>▪ </a:t>
            </a:r>
            <a:r>
              <a:rPr sz="1500" b="1" i="0">
                <a:solidFill>
                  <a:srgbClr val="1A1C33"/>
                </a:solidFill>
                <a:latin typeface="Arial"/>
              </a:rPr>
              <a:t>Fix — expwall</a:t>
            </a:r>
            <a:r>
              <a:rPr sz="1500" b="0" i="0">
                <a:solidFill>
                  <a:srgbClr val="1A1C33"/>
                </a:solidFill>
                <a:latin typeface="Arial"/>
              </a:rPr>
              <a:t>: exponential-in-distance </a:t>
            </a:r>
            <a:r>
              <a:rPr sz="1500" b="1" i="0">
                <a:solidFill>
                  <a:srgbClr val="1A1C33"/>
                </a:solidFill>
                <a:latin typeface="Arial"/>
              </a:rPr>
              <a:t>absolute</a:t>
            </a:r>
            <a:r>
              <a:rPr sz="1500" b="0" i="0">
                <a:solidFill>
                  <a:srgbClr val="1A1C33"/>
                </a:solidFill>
                <a:latin typeface="Arial"/>
              </a:rPr>
              <a:t> error → picks a side (conditional </a:t>
            </a:r>
            <a:r>
              <a:rPr sz="1500" b="0" i="1">
                <a:solidFill>
                  <a:srgbClr val="1A1C33"/>
                </a:solidFill>
                <a:latin typeface="Arial"/>
              </a:rPr>
              <a:t>median</a:t>
            </a:r>
            <a:r>
              <a:rPr sz="1500" b="0" i="0">
                <a:solidFill>
                  <a:srgbClr val="1A1C33"/>
                </a:solidFill>
                <a:latin typeface="Arial"/>
              </a:rPr>
              <a:t>) instead of averaging.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400" b="0" i="0">
                <a:solidFill>
                  <a:srgbClr val="6B6F8A"/>
                </a:solidFill>
                <a:latin typeface="Arial"/>
              </a:rPr>
              <a:t>–  </a:t>
            </a:r>
            <a:r>
              <a:rPr sz="1400" b="0" i="0">
                <a:solidFill>
                  <a:srgbClr val="3A3E5C"/>
                </a:solidFill>
                <a:latin typeface="Arial"/>
              </a:rPr>
              <a:t>Front width </a:t>
            </a:r>
            <a:r>
              <a:rPr sz="1400" b="1" i="0">
                <a:solidFill>
                  <a:srgbClr val="3A3E5C"/>
                </a:solidFill>
                <a:latin typeface="Arial"/>
              </a:rPr>
              <a:t>1.16 px vs truth 1.46</a:t>
            </a:r>
            <a:r>
              <a:rPr sz="1400" b="0" i="0">
                <a:solidFill>
                  <a:srgbClr val="3A3E5C"/>
                </a:solidFill>
                <a:latin typeface="Arial"/>
              </a:rPr>
              <a:t>, at ≈22% RMSE.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500" b="1" i="0">
                <a:solidFill>
                  <a:srgbClr val="4F6DF5"/>
                </a:solidFill>
                <a:latin typeface="Arial"/>
              </a:rPr>
              <a:t>▪ </a:t>
            </a:r>
            <a:r>
              <a:rPr sz="1500" b="1" i="0">
                <a:solidFill>
                  <a:srgbClr val="1A1C33"/>
                </a:solidFill>
                <a:latin typeface="Arial"/>
              </a:rPr>
              <a:t>Bubbles</a:t>
            </a:r>
            <a:r>
              <a:rPr sz="1500" b="0" i="0">
                <a:solidFill>
                  <a:srgbClr val="1A1C33"/>
                </a:solidFill>
                <a:latin typeface="Arial"/>
              </a:rPr>
              <a:t>: the best U-FNO makes bubbles </a:t>
            </a:r>
            <a:r>
              <a:rPr sz="1500" b="1" i="0">
                <a:solidFill>
                  <a:srgbClr val="1A1C33"/>
                </a:solidFill>
                <a:latin typeface="Arial"/>
              </a:rPr>
              <a:t>+6–9% too large</a:t>
            </a:r>
            <a:r>
              <a:rPr sz="1500" b="0" i="0">
                <a:solidFill>
                  <a:srgbClr val="1A1C33"/>
                </a:solidFill>
                <a:latin typeface="Arial"/>
              </a:rPr>
              <a:t> early (soft walls read as bigger bubbles); JS divergence ≤ 0.017, so shape is right, scale drifts.</a:t>
            </a:r>
          </a:p>
        </p:txBody>
      </p:sp>
      <p:pic>
        <p:nvPicPr>
          <p:cNvPr id="6" name="Picture 5" descr="bubble_size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554480"/>
            <a:ext cx="4663440" cy="154746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949440" y="5669280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6B6F8A"/>
                </a:solidFill>
                <a:latin typeface="Arial"/>
              </a:rPr>
              <a:t>Bubble-size distribution, truth vs U-FNO, by ¯x_HI stage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6F8A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4F6DF5"/>
                </a:solidFill>
                <a:latin typeface="Arial"/>
              </a:rPr>
              <a:t>3 ·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A1C33"/>
                </a:solidFill>
                <a:latin typeface="Arial"/>
              </a:rPr>
              <a:t>The tradeoff: accuracy vs sharpness is a frontier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07008"/>
            <a:ext cx="1280160" cy="41148"/>
          </a:xfrm>
          <a:prstGeom prst="rect">
            <a:avLst/>
          </a:prstGeom>
          <a:solidFill>
            <a:srgbClr val="4F6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81328"/>
            <a:ext cx="11064240" cy="5120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600" b="1" i="0">
                <a:solidFill>
                  <a:srgbClr val="4F6DF5"/>
                </a:solidFill>
                <a:latin typeface="Arial"/>
              </a:rPr>
              <a:t>▪ </a:t>
            </a:r>
            <a:r>
              <a:rPr sz="1600" b="0" i="0">
                <a:solidFill>
                  <a:srgbClr val="1A1C33"/>
                </a:solidFill>
                <a:latin typeface="Arial"/>
              </a:rPr>
              <a:t>There is </a:t>
            </a:r>
            <a:r>
              <a:rPr sz="1600" b="1" i="0">
                <a:solidFill>
                  <a:srgbClr val="1A1C33"/>
                </a:solidFill>
                <a:latin typeface="Arial"/>
              </a:rPr>
              <a:t>no free lunch</a:t>
            </a:r>
            <a:r>
              <a:rPr sz="1600" b="0" i="0">
                <a:solidFill>
                  <a:srgbClr val="1A1C33"/>
                </a:solidFill>
                <a:latin typeface="Arial"/>
              </a:rPr>
              <a:t> — an explicit accuracy-vs-sharpness frontier: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500" b="0" i="0">
                <a:solidFill>
                  <a:srgbClr val="6B6F8A"/>
                </a:solidFill>
                <a:latin typeface="Arial"/>
              </a:rPr>
              <a:t>–  </a:t>
            </a:r>
            <a:r>
              <a:rPr sz="1500" b="0" i="0">
                <a:solidFill>
                  <a:srgbClr val="3A3E5C"/>
                </a:solidFill>
                <a:latin typeface="Arial"/>
              </a:rPr>
              <a:t>RMSE </a:t>
            </a:r>
            <a:r>
              <a:rPr sz="1500" b="1" i="0">
                <a:solidFill>
                  <a:srgbClr val="3A3E5C"/>
                </a:solidFill>
                <a:latin typeface="Arial"/>
              </a:rPr>
              <a:t>0.145</a:t>
            </a:r>
            <a:r>
              <a:rPr sz="1500" b="0" i="0">
                <a:solidFill>
                  <a:srgbClr val="3A3E5C"/>
                </a:solidFill>
                <a:latin typeface="Arial"/>
              </a:rPr>
              <a:t> at front width 2.89 px,  or  RMSE </a:t>
            </a:r>
            <a:r>
              <a:rPr sz="1500" b="1" i="0">
                <a:solidFill>
                  <a:srgbClr val="3A3E5C"/>
                </a:solidFill>
                <a:latin typeface="Arial"/>
              </a:rPr>
              <a:t>0.177</a:t>
            </a:r>
            <a:r>
              <a:rPr sz="1500" b="0" i="0">
                <a:solidFill>
                  <a:srgbClr val="3A3E5C"/>
                </a:solidFill>
                <a:latin typeface="Arial"/>
              </a:rPr>
              <a:t> at width </a:t>
            </a:r>
            <a:r>
              <a:rPr sz="1500" b="1" i="0">
                <a:solidFill>
                  <a:srgbClr val="3A3E5C"/>
                </a:solidFill>
                <a:latin typeface="Arial"/>
              </a:rPr>
              <a:t>1.16 px</a:t>
            </a:r>
            <a:r>
              <a:rPr sz="1500" b="0" i="0">
                <a:solidFill>
                  <a:srgbClr val="3A3E5C"/>
                </a:solidFill>
                <a:latin typeface="Arial"/>
              </a:rPr>
              <a:t> (truth 1.46).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600" b="1" i="0">
                <a:solidFill>
                  <a:srgbClr val="4F6DF5"/>
                </a:solidFill>
                <a:latin typeface="Arial"/>
              </a:rPr>
              <a:t>▪ </a:t>
            </a:r>
            <a:r>
              <a:rPr sz="1600" b="0" i="0">
                <a:solidFill>
                  <a:srgbClr val="1A1C33"/>
                </a:solidFill>
                <a:latin typeface="Arial"/>
              </a:rPr>
              <a:t>Sharpening restores small-scale power: high-k power ratio </a:t>
            </a:r>
            <a:r>
              <a:rPr sz="1600" b="1" i="0">
                <a:solidFill>
                  <a:srgbClr val="1A1C33"/>
                </a:solidFill>
                <a:latin typeface="Arial"/>
              </a:rPr>
              <a:t>0.51 → 0.82</a:t>
            </a:r>
            <a:r>
              <a:rPr sz="1600" b="0" i="0">
                <a:solidFill>
                  <a:srgbClr val="1A1C33"/>
                </a:solidFill>
                <a:latin typeface="Arial"/>
              </a:rPr>
              <a:t> (1.0 = correct), but high-k cross-correlation falls 0.70 → 0.58.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600" b="1" i="0">
                <a:solidFill>
                  <a:srgbClr val="4F6DF5"/>
                </a:solidFill>
                <a:latin typeface="Arial"/>
              </a:rPr>
              <a:t>▪ </a:t>
            </a:r>
            <a:r>
              <a:rPr sz="1600" b="0" i="0">
                <a:solidFill>
                  <a:srgbClr val="1A1C33"/>
                </a:solidFill>
                <a:latin typeface="Arial"/>
              </a:rPr>
              <a:t>A </a:t>
            </a:r>
            <a:r>
              <a:rPr sz="1600" b="1" i="0">
                <a:solidFill>
                  <a:srgbClr val="1A1C33"/>
                </a:solidFill>
                <a:latin typeface="Arial"/>
              </a:rPr>
              <a:t>granulometry (BSD) auxiliary loss</a:t>
            </a:r>
            <a:r>
              <a:rPr sz="1600" b="0" i="0">
                <a:solidFill>
                  <a:srgbClr val="1A1C33"/>
                </a:solidFill>
                <a:latin typeface="Arial"/>
              </a:rPr>
              <a:t> halves the bubble-size bias (</a:t>
            </a:r>
            <a:r>
              <a:rPr sz="1600" b="1" i="0">
                <a:solidFill>
                  <a:srgbClr val="1A1C33"/>
                </a:solidFill>
                <a:latin typeface="Arial"/>
              </a:rPr>
              <a:t>+6.0% → +2.9%</a:t>
            </a:r>
            <a:r>
              <a:rPr sz="1600" b="0" i="0">
                <a:solidFill>
                  <a:srgbClr val="1A1C33"/>
                </a:solidFill>
                <a:latin typeface="Arial"/>
              </a:rPr>
              <a:t>) at a cost of 6.5% val-L² — the first aux term that moves what it targets.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600" b="1" i="0">
                <a:solidFill>
                  <a:srgbClr val="4F6DF5"/>
                </a:solidFill>
                <a:latin typeface="Arial"/>
              </a:rPr>
              <a:t>▪ </a:t>
            </a:r>
            <a:r>
              <a:rPr sz="1600" b="1" i="0">
                <a:solidFill>
                  <a:srgbClr val="1A1C33"/>
                </a:solidFill>
                <a:latin typeface="Arial"/>
              </a:rPr>
              <a:t>Which end matters depends on the deliverable</a:t>
            </a:r>
            <a:r>
              <a:rPr sz="1600" b="0" i="0">
                <a:solidFill>
                  <a:srgbClr val="1A1C33"/>
                </a:solidFill>
                <a:latin typeface="Arial"/>
              </a:rPr>
              <a:t>: for SBI on summary statistics, truth-like P(k) and bubble sizes plausibly beat per-pixel RMSE — a choice to make </a:t>
            </a:r>
            <a:r>
              <a:rPr sz="1600" b="0" i="1">
                <a:solidFill>
                  <a:srgbClr val="1A1C33"/>
                </a:solidFill>
                <a:latin typeface="Arial"/>
              </a:rPr>
              <a:t>deliberately</a:t>
            </a:r>
            <a:r>
              <a:rPr sz="1600" b="0" i="0">
                <a:solidFill>
                  <a:srgbClr val="1A1C33"/>
                </a:solidFill>
                <a:latin typeface="Arial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6F8A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4F6DF5"/>
                </a:solidFill>
                <a:latin typeface="Arial"/>
              </a:rPr>
              <a:t>4 · OUTLOOK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A1C33"/>
                </a:solidFill>
                <a:latin typeface="Arial"/>
              </a:rPr>
              <a:t>What's next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07008"/>
            <a:ext cx="1280160" cy="41148"/>
          </a:xfrm>
          <a:prstGeom prst="rect">
            <a:avLst/>
          </a:prstGeom>
          <a:solidFill>
            <a:srgbClr val="4F6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81328"/>
            <a:ext cx="6309360" cy="5120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500" b="1" i="0">
                <a:solidFill>
                  <a:srgbClr val="4F6DF5"/>
                </a:solidFill>
                <a:latin typeface="Arial"/>
              </a:rPr>
              <a:t>▪ </a:t>
            </a:r>
            <a:r>
              <a:rPr sz="1500" b="1" i="0">
                <a:solidFill>
                  <a:srgbClr val="1A1C33"/>
                </a:solidFill>
                <a:latin typeface="Arial"/>
              </a:rPr>
              <a:t>Run expwall in 3-D</a:t>
            </a:r>
            <a:r>
              <a:rPr sz="1500" b="0" i="0">
                <a:solidFill>
                  <a:srgbClr val="1A1C33"/>
                </a:solidFill>
                <a:latin typeface="Arial"/>
              </a:rPr>
              <a:t> — the front-width defect is ~3.5× worse there; the loss is already merged.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500" b="1" i="0">
                <a:solidFill>
                  <a:srgbClr val="4F6DF5"/>
                </a:solidFill>
                <a:latin typeface="Arial"/>
              </a:rPr>
              <a:t>▪ </a:t>
            </a:r>
            <a:r>
              <a:rPr sz="1500" b="1" i="0">
                <a:solidFill>
                  <a:srgbClr val="1A1C33"/>
                </a:solidFill>
                <a:latin typeface="Arial"/>
              </a:rPr>
              <a:t>Fix the LOS grid</a:t>
            </a:r>
            <a:r>
              <a:rPr sz="1500" b="0" i="0">
                <a:solidFill>
                  <a:srgbClr val="1A1C33"/>
                </a:solidFill>
                <a:latin typeface="Arial"/>
              </a:rPr>
              <a:t>: the cube cache discards </a:t>
            </a:r>
            <a:r>
              <a:rPr sz="1500" b="1" i="0">
                <a:solidFill>
                  <a:srgbClr val="1A1C33"/>
                </a:solidFill>
                <a:latin typeface="Arial"/>
              </a:rPr>
              <a:t>87%</a:t>
            </a:r>
            <a:r>
              <a:rPr sz="1500" b="0" i="0">
                <a:solidFill>
                  <a:srgbClr val="1A1C33"/>
                </a:solidFill>
                <a:latin typeface="Arial"/>
              </a:rPr>
              <a:t> of front sharpness before training (uniform-z → 12.7% recovered). A warped grid recovers 33% at the </a:t>
            </a:r>
            <a:r>
              <a:rPr sz="1500" b="0" i="1">
                <a:solidFill>
                  <a:srgbClr val="1A1C33"/>
                </a:solidFill>
                <a:latin typeface="Arial"/>
              </a:rPr>
              <a:t>same</a:t>
            </a:r>
            <a:r>
              <a:rPr sz="1500" b="0" i="0">
                <a:solidFill>
                  <a:srgbClr val="1A1C33"/>
                </a:solidFill>
                <a:latin typeface="Arial"/>
              </a:rPr>
              <a:t> budget.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500" b="1" i="0">
                <a:solidFill>
                  <a:srgbClr val="4F6DF5"/>
                </a:solidFill>
                <a:latin typeface="Arial"/>
              </a:rPr>
              <a:t>▪ </a:t>
            </a:r>
            <a:r>
              <a:rPr sz="1500" b="1" i="0">
                <a:solidFill>
                  <a:srgbClr val="1A1C33"/>
                </a:solidFill>
                <a:latin typeface="Arial"/>
              </a:rPr>
              <a:t>Spend LOS bandwidth</a:t>
            </a:r>
            <a:r>
              <a:rPr sz="1500" b="0" i="0">
                <a:solidFill>
                  <a:srgbClr val="1A1C33"/>
                </a:solidFill>
                <a:latin typeface="Arial"/>
              </a:rPr>
              <a:t>: mode-weight diagnostic says the line-of-sight axis is the binding 3-D constraint (0.60–0.78 vs 0.03–0.20 transverse).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500" b="1" i="0">
                <a:solidFill>
                  <a:srgbClr val="4F6DF5"/>
                </a:solidFill>
                <a:latin typeface="Arial"/>
              </a:rPr>
              <a:t>▪ </a:t>
            </a:r>
            <a:r>
              <a:rPr sz="1500" b="1" i="0">
                <a:solidFill>
                  <a:srgbClr val="1A1C33"/>
                </a:solidFill>
                <a:latin typeface="Arial"/>
              </a:rPr>
              <a:t>SIREN × U-Net hybrid</a:t>
            </a:r>
            <a:r>
              <a:rPr sz="1500" b="0" i="0">
                <a:solidFill>
                  <a:srgbClr val="1A1C33"/>
                </a:solidFill>
                <a:latin typeface="Arial"/>
              </a:rPr>
              <a:t> — full-frequency global kernel + the Gibbs-free local path.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500" b="1" i="0">
                <a:solidFill>
                  <a:srgbClr val="4F6DF5"/>
                </a:solidFill>
                <a:latin typeface="Arial"/>
              </a:rPr>
              <a:t>▪ </a:t>
            </a:r>
            <a:r>
              <a:rPr sz="1500" b="1" i="0">
                <a:solidFill>
                  <a:srgbClr val="1A1C33"/>
                </a:solidFill>
                <a:latin typeface="Arial"/>
              </a:rPr>
              <a:t>FNO + WHNO ensemble</a:t>
            </a:r>
            <a:r>
              <a:rPr sz="1500" b="0" i="0">
                <a:solidFill>
                  <a:srgbClr val="1A1C33"/>
                </a:solidFill>
                <a:latin typeface="Arial"/>
              </a:rPr>
              <a:t> and the shift-consistency test for the Walsh dyadic-convolution caveat.</a:t>
            </a:r>
          </a:p>
        </p:txBody>
      </p:sp>
      <p:pic>
        <p:nvPicPr>
          <p:cNvPr id="6" name="Picture 5" descr="mode_weight_profiles_3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463040"/>
            <a:ext cx="4663440" cy="4496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949440" y="6035040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6B6F8A"/>
                </a:solidFill>
                <a:latin typeface="Arial"/>
              </a:rPr>
              <a:t>Per-branch mode weights: LOS pressed against truncation edge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6F8A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4F6DF5"/>
                </a:solidFill>
                <a:latin typeface="Arial"/>
              </a:rPr>
              <a:t>4 · OUTLOOK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A1C33"/>
                </a:solidFill>
                <a:latin typeface="Arial"/>
              </a:rPr>
              <a:t>Back to the thesis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07008"/>
            <a:ext cx="1280160" cy="41148"/>
          </a:xfrm>
          <a:prstGeom prst="rect">
            <a:avLst/>
          </a:prstGeom>
          <a:solidFill>
            <a:srgbClr val="4F6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81328"/>
            <a:ext cx="11064240" cy="5120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600" b="1" i="0">
                <a:solidFill>
                  <a:srgbClr val="4F6DF5"/>
                </a:solidFill>
                <a:latin typeface="Arial"/>
              </a:rPr>
              <a:t>▪ </a:t>
            </a:r>
            <a:r>
              <a:rPr sz="1600" b="1" i="0">
                <a:solidFill>
                  <a:srgbClr val="1A1C33"/>
                </a:solidFill>
                <a:latin typeface="Arial"/>
              </a:rPr>
              <a:t>The goal is inference, not pixels.</a:t>
            </a:r>
            <a:r>
              <a:rPr sz="1600" b="0" i="0">
                <a:solidFill>
                  <a:srgbClr val="1A1C33"/>
                </a:solidFill>
                <a:latin typeface="Arial"/>
              </a:rPr>
              <a:t> This surrogate is the forward model for simulation-based inference.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600" b="1" i="0">
                <a:solidFill>
                  <a:srgbClr val="4F6DF5"/>
                </a:solidFill>
                <a:latin typeface="Arial"/>
              </a:rPr>
              <a:t>▪ </a:t>
            </a:r>
            <a:r>
              <a:rPr sz="1600" b="1" i="0">
                <a:solidFill>
                  <a:srgbClr val="1A1C33"/>
                </a:solidFill>
                <a:latin typeface="Arial"/>
              </a:rPr>
              <a:t>P1</a:t>
            </a:r>
            <a:r>
              <a:rPr sz="1600" b="0" i="0">
                <a:solidFill>
                  <a:srgbClr val="1A1C33"/>
                </a:solidFill>
                <a:latin typeface="Arial"/>
              </a:rPr>
              <a:t>: extract renormalized EFT coefficients {b₁ˣ, b₂ˣ, bᵇ²ˣ, Pεε} across simulators — the simulator-independent representation.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600" b="1" i="0">
                <a:solidFill>
                  <a:srgbClr val="4F6DF5"/>
                </a:solidFill>
                <a:latin typeface="Arial"/>
              </a:rPr>
              <a:t>▪ </a:t>
            </a:r>
            <a:r>
              <a:rPr sz="1600" b="1" i="0">
                <a:solidFill>
                  <a:srgbClr val="1A1C33"/>
                </a:solidFill>
                <a:latin typeface="Arial"/>
              </a:rPr>
              <a:t>P2</a:t>
            </a:r>
            <a:r>
              <a:rPr sz="1600" b="0" i="0">
                <a:solidFill>
                  <a:srgbClr val="1A1C33"/>
                </a:solidFill>
                <a:latin typeface="Arial"/>
              </a:rPr>
              <a:t>: target EFT coefficients rather than native parameters to beat cross-simulator generalization (vs the multi-simulator-training baseline).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600" b="1" i="0">
                <a:solidFill>
                  <a:srgbClr val="4F6DF5"/>
                </a:solidFill>
                <a:latin typeface="Arial"/>
              </a:rPr>
              <a:t>▪ </a:t>
            </a:r>
            <a:r>
              <a:rPr sz="1600" b="1" i="0">
                <a:solidFill>
                  <a:srgbClr val="1A1C33"/>
                </a:solidFill>
                <a:latin typeface="Arial"/>
              </a:rPr>
              <a:t>Consequence of this work</a:t>
            </a:r>
            <a:r>
              <a:rPr sz="1600" b="0" i="0">
                <a:solidFill>
                  <a:srgbClr val="1A1C33"/>
                </a:solidFill>
                <a:latin typeface="Arial"/>
              </a:rPr>
              <a:t>: the emulator's residual power should be compared to the EFT stochastic term Pεε; and we now know to pick the </a:t>
            </a:r>
            <a:r>
              <a:rPr sz="1600" b="0" i="1">
                <a:solidFill>
                  <a:srgbClr val="1A1C33"/>
                </a:solidFill>
                <a:latin typeface="Arial"/>
              </a:rPr>
              <a:t>sharp</a:t>
            </a:r>
            <a:r>
              <a:rPr sz="1600" b="0" i="0">
                <a:solidFill>
                  <a:srgbClr val="1A1C33"/>
                </a:solidFill>
                <a:latin typeface="Arial"/>
              </a:rPr>
              <a:t> end of the frontier for morphology-sensitive inference.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76072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4F6DF5"/>
                </a:solidFill>
                <a:latin typeface="Arial"/>
              </a:rPr>
              <a:t>Thank you.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6F8A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